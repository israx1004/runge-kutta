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6"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202"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8884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método de Runge-Kutta de cuarto orden: qué es un método numérico, de dónde sale la idea a partir de Euler, las fórmulas, ejemplos resueltos y qué hacer cuando la ecuación no está despejada.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método numérico traduce un problema matemático a un algoritmo de operaciones simples que una computadora puede ejecutar. El resultado es una aproximación numérica que se construye repitiendo el mismo procedimiento.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Runge-Kutta calcula valores de una función que no conocemos a partir de una regla que dice cómo cambia. Si unimos los puntos de la tabla obtenemos la forma de la solución. Así se simulan órbitas, circuitos, reacciones químicas o poblaciones.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Euler es como caminar en línea recta siguiendo la dirección que tienes al salir. Mientras más se curve la solución dentro del paso, más se separa la recta de la curva. Runge-Kutta nace para mejorar justo esa pendiente.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Runge-Kutta explora cómo cambia la curva durante el paso: evalúa la pendiente al inicio, a la mitad y al final, y combina esas pendientes. Así toma una dirección mucho más representativa del intervalo completo. Imitar la precisión de Taylor usando solo evaluaciones de f es la base teórica del método.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k1 es la pendiente al inicio. Con ella se da medio paso y se evalúa k2. Con k2 se da otro medio paso desde el mismo punto y se evalúa k3. Con k3 se da el paso completo y se evalúa k4. El promedio ponderado 1, 2, 2, 1 entre 6 es la pendiente con la que se avanza. Si f solo depende de x, RK4 se reduce exactamente a la regla de Simpson. Además x avanza siempre: x de n más 1 es x de n más 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métodos hacen lo mismo en esencia. La única diferencia es qué pendiente usan: Euler usa la del inicio, Runge-Kutta tantea varias dentro del paso y las promedia. Euler mejorado, también llamado Heun, es el Runge-Kutta de dos pendientes.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método se resume en tres pasos que se repiten: preparar la ecuación, calcular las cuatro pendientes y avanzar con su promedio ponderado. El resultado es una tabla de puntos que aproxima la curva solución.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49"/>
            <a:ext cx="10566401" cy="467349"/>
          </a:xfrm>
          <a:prstGeom prst="rect">
            <a:avLst/>
          </a:prstGeom>
          <a:noFill/>
          <a:ln/>
        </p:spPr>
        <p:txBody>
          <a:bodyPr wrap="square" lIns="0" tIns="0" rIns="0" bIns="0" rtlCol="0" anchor="t"/>
          <a:lstStyle>
            <a:lvl1pPr marL="0" indent="0" algn="l">
              <a:lnSpc>
                <a:spcPct val="115000"/>
              </a:lnSpc>
              <a:buNone/>
              <a:defRPr lang="en-US" sz="3200" dirty="0">
                <a:solidFill>
                  <a:srgbClr val="14212B"/>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98"/>
            <a:ext cx="10566400" cy="4145302"/>
          </a:xfrm>
          <a:prstGeom prst="rect">
            <a:avLst/>
          </a:prstGeom>
          <a:noFill/>
          <a:ln/>
        </p:spPr>
        <p:txBody>
          <a:bodyPr wrap="square" lIns="0" tIns="0" rIns="0" bIns="0" rtlCol="0" anchor="t"/>
          <a:lstStyle>
            <a:lvl1pPr marL="0" indent="0" algn="l">
              <a:lnSpc>
                <a:spcPct val="140000"/>
              </a:lnSpc>
              <a:buNone/>
              <a:defRPr lang="en-US" sz="1600" dirty="0">
                <a:solidFill>
                  <a:srgbClr val="1421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49"/>
            <a:ext cx="10566401" cy="467349"/>
          </a:xfrm>
          <a:prstGeom prst="rect">
            <a:avLst/>
          </a:prstGeom>
          <a:noFill/>
          <a:ln/>
        </p:spPr>
        <p:txBody>
          <a:bodyPr wrap="square" lIns="0" tIns="0" rIns="0" bIns="0" rtlCol="0" anchor="t"/>
          <a:lstStyle>
            <a:lvl1pPr marL="0" indent="0" algn="l">
              <a:lnSpc>
                <a:spcPct val="115000"/>
              </a:lnSpc>
              <a:buNone/>
              <a:defRPr lang="en-US" sz="3200" dirty="0">
                <a:solidFill>
                  <a:srgbClr val="14212B"/>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98"/>
            <a:ext cx="10566400" cy="4145302"/>
          </a:xfrm>
          <a:prstGeom prst="rect">
            <a:avLst/>
          </a:prstGeom>
          <a:noFill/>
          <a:ln/>
        </p:spPr>
        <p:txBody>
          <a:bodyPr wrap="square" lIns="0" tIns="0" rIns="0" bIns="0" rtlCol="0" anchor="t"/>
          <a:lstStyle>
            <a:lvl1pPr marL="0" indent="0" algn="l">
              <a:lnSpc>
                <a:spcPct val="140000"/>
              </a:lnSpc>
              <a:buNone/>
              <a:defRPr lang="en-US" sz="1600" dirty="0">
                <a:solidFill>
                  <a:srgbClr val="1421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2B"/>
        </a:solidFill>
        <a:effectLst/>
      </p:bgPr>
    </p:bg>
    <p:spTree>
      <p:nvGrpSpPr>
        <p:cNvPr id="1" name=""/>
        <p:cNvGrpSpPr/>
        <p:nvPr/>
      </p:nvGrpSpPr>
      <p:grpSpPr>
        <a:xfrm>
          <a:off x="0" y="0"/>
          <a:ext cx="0" cy="0"/>
          <a:chOff x="0" y="0"/>
          <a:chExt cx="0" cy="0"/>
        </a:xfrm>
      </p:grpSpPr>
      <p:pic>
        <p:nvPicPr>
          <p:cNvPr id="2" name="Image 0" descr="Curva solución con puntos calculados paso a paso"/>
          <p:cNvPicPr>
            <a:picLocks noChangeAspect="1"/>
          </p:cNvPicPr>
          <p:nvPr/>
        </p:nvPicPr>
        <p:blipFill>
          <a:blip r:embed="rId3"/>
          <a:srcRect/>
          <a:stretch/>
        </p:blipFill>
        <p:spPr>
          <a:xfrm>
            <a:off x="6553200" y="1460500"/>
            <a:ext cx="4826000" cy="3937000"/>
          </a:xfrm>
          <a:prstGeom prst="rect">
            <a:avLst/>
          </a:prstGeom>
        </p:spPr>
      </p:pic>
      <p:sp>
        <p:nvSpPr>
          <p:cNvPr id="3" name="Text 0"/>
          <p:cNvSpPr/>
          <p:nvPr/>
        </p:nvSpPr>
        <p:spPr>
          <a:xfrm>
            <a:off x="812800" y="1786901"/>
            <a:ext cx="10883393" cy="274297"/>
          </a:xfrm>
          <a:prstGeom prst="rect">
            <a:avLst/>
          </a:prstGeom>
          <a:noFill/>
          <a:ln/>
        </p:spPr>
        <p:txBody>
          <a:bodyPr wrap="square" lIns="0" tIns="0" rIns="0" bIns="0" rtlCol="0" anchor="t">
            <a:normAutofit/>
          </a:bodyPr>
          <a:lstStyle/>
          <a:p>
            <a:pPr marL="0" indent="0" algn="l">
              <a:lnSpc>
                <a:spcPts val="1960"/>
              </a:lnSpc>
              <a:buNone/>
            </a:pPr>
            <a:r>
              <a:rPr lang="es-MX" sz="1400" kern="0" spc="200" noProof="0" dirty="0">
                <a:solidFill>
                  <a:srgbClr val="6CB4E8"/>
                </a:solidFill>
                <a:latin typeface="Arial" pitchFamily="34" charset="0"/>
                <a:ea typeface="Arial" pitchFamily="34" charset="-122"/>
                <a:cs typeface="Arial" pitchFamily="34" charset="-120"/>
              </a:rPr>
              <a:t>MÉTODOS NUMÉRICOS · ECUACIONES DIFERENCIALES</a:t>
            </a:r>
            <a:endParaRPr lang="es-MX" sz="1400" noProof="0" dirty="0"/>
          </a:p>
        </p:txBody>
      </p:sp>
      <p:sp>
        <p:nvSpPr>
          <p:cNvPr id="4" name="Text 1"/>
          <p:cNvSpPr>
            <a:spLocks noGrp="1"/>
          </p:cNvSpPr>
          <p:nvPr>
            <p:ph type="title"/>
          </p:nvPr>
        </p:nvSpPr>
        <p:spPr>
          <a:xfrm>
            <a:off x="812800" y="2238999"/>
            <a:ext cx="6540500" cy="1625600"/>
          </a:xfrm>
          <a:prstGeom prst="rect">
            <a:avLst/>
          </a:prstGeom>
          <a:noFill/>
          <a:ln/>
        </p:spPr>
        <p:txBody>
          <a:bodyPr wrap="square" lIns="0" tIns="0" rIns="0" bIns="0" rtlCol="0" anchor="t">
            <a:normAutofit/>
          </a:bodyPr>
          <a:lstStyle/>
          <a:p>
            <a:pPr marL="0" indent="0" algn="l">
              <a:lnSpc>
                <a:spcPts val="6300"/>
              </a:lnSpc>
              <a:buNone/>
            </a:pPr>
            <a:r>
              <a:rPr lang="es-MX" sz="6000" b="1" i="0" noProof="0" dirty="0">
                <a:solidFill>
                  <a:srgbClr val="F2F5F7"/>
                </a:solidFill>
                <a:latin typeface="Georgia" pitchFamily="18" charset="0"/>
                <a:ea typeface="Georgia" pitchFamily="18" charset="-122"/>
                <a:cs typeface="Georgia" pitchFamily="18" charset="-120"/>
              </a:rPr>
              <a:t>Método de Runge-</a:t>
            </a:r>
            <a:r>
              <a:rPr lang="es-MX" sz="6000" b="1" i="0" noProof="0" dirty="0" err="1">
                <a:solidFill>
                  <a:srgbClr val="F2F5F7"/>
                </a:solidFill>
                <a:latin typeface="Georgia" pitchFamily="18" charset="0"/>
                <a:ea typeface="Georgia" pitchFamily="18" charset="-122"/>
                <a:cs typeface="Georgia" pitchFamily="18" charset="-120"/>
              </a:rPr>
              <a:t>Kutta</a:t>
            </a:r>
            <a:endParaRPr lang="es-MX" sz="6000" noProof="0" dirty="0"/>
          </a:p>
        </p:txBody>
      </p:sp>
      <p:sp>
        <p:nvSpPr>
          <p:cNvPr id="5" name="Text 2"/>
          <p:cNvSpPr/>
          <p:nvPr/>
        </p:nvSpPr>
        <p:spPr>
          <a:xfrm>
            <a:off x="812800" y="4042399"/>
            <a:ext cx="5755640" cy="1054100"/>
          </a:xfrm>
          <a:prstGeom prst="rect">
            <a:avLst/>
          </a:prstGeom>
          <a:noFill/>
          <a:ln/>
        </p:spPr>
        <p:txBody>
          <a:bodyPr wrap="square" lIns="0" tIns="0" rIns="0" bIns="0" rtlCol="0" anchor="t">
            <a:normAutofit/>
          </a:bodyPr>
          <a:lstStyle/>
          <a:p>
            <a:pPr marL="0" indent="0" algn="l">
              <a:lnSpc>
                <a:spcPts val="2700"/>
              </a:lnSpc>
              <a:buNone/>
            </a:pPr>
            <a:r>
              <a:rPr lang="es-MX" sz="2000" noProof="0" dirty="0">
                <a:solidFill>
                  <a:srgbClr val="B8C7D3"/>
                </a:solidFill>
                <a:latin typeface="Arial" pitchFamily="34" charset="0"/>
                <a:ea typeface="Arial" pitchFamily="34" charset="-122"/>
                <a:cs typeface="Arial" pitchFamily="34" charset="-120"/>
              </a:rPr>
              <a:t>Cómo aproximar la solución de </a:t>
            </a:r>
            <a:r>
              <a:rPr lang="es-MX" sz="2000" noProof="0" dirty="0" err="1">
                <a:solidFill>
                  <a:srgbClr val="B8C7D3"/>
                </a:solidFill>
                <a:latin typeface="Arial" pitchFamily="34" charset="0"/>
                <a:ea typeface="Arial" pitchFamily="34" charset="-122"/>
                <a:cs typeface="Arial" pitchFamily="34" charset="-120"/>
              </a:rPr>
              <a:t>dy</a:t>
            </a:r>
            <a:r>
              <a:rPr lang="es-MX" sz="2000" noProof="0" dirty="0">
                <a:solidFill>
                  <a:srgbClr val="B8C7D3"/>
                </a:solidFill>
                <a:latin typeface="Arial" pitchFamily="34" charset="0"/>
                <a:ea typeface="Arial" pitchFamily="34" charset="-122"/>
                <a:cs typeface="Arial" pitchFamily="34" charset="-120"/>
              </a:rPr>
              <a:t>/</a:t>
            </a:r>
            <a:r>
              <a:rPr lang="es-MX" sz="2000" noProof="0" dirty="0" err="1">
                <a:solidFill>
                  <a:srgbClr val="B8C7D3"/>
                </a:solidFill>
                <a:latin typeface="Arial" pitchFamily="34" charset="0"/>
                <a:ea typeface="Arial" pitchFamily="34" charset="-122"/>
                <a:cs typeface="Arial" pitchFamily="34" charset="-120"/>
              </a:rPr>
              <a:t>dx</a:t>
            </a:r>
            <a:r>
              <a:rPr lang="es-MX" sz="2000" noProof="0" dirty="0">
                <a:solidFill>
                  <a:srgbClr val="B8C7D3"/>
                </a:solidFill>
                <a:latin typeface="Arial" pitchFamily="34" charset="0"/>
                <a:ea typeface="Arial" pitchFamily="34" charset="-122"/>
                <a:cs typeface="Arial" pitchFamily="34" charset="-120"/>
              </a:rPr>
              <a:t> = f(x, y) avanzando paso a paso con un promedio de pendientes</a:t>
            </a:r>
            <a:endParaRPr lang="es-MX" sz="20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marL="0" indent="0" algn="l">
              <a:lnSpc>
                <a:spcPts val="1680"/>
              </a:lnSpc>
              <a:buNone/>
            </a:pPr>
            <a:r>
              <a:rPr lang="es-MX" sz="1200" b="1" kern="0" spc="150" noProof="0" dirty="0">
                <a:solidFill>
                  <a:srgbClr val="1D6FA5"/>
                </a:solidFill>
                <a:latin typeface="Arial" pitchFamily="34" charset="0"/>
                <a:cs typeface="Arial" pitchFamily="34" charset="-120"/>
              </a:rPr>
              <a:t>Qué es un método numérico?</a:t>
            </a:r>
            <a:endParaRPr lang="es-MX" sz="1200" noProof="0" dirty="0"/>
          </a:p>
        </p:txBody>
      </p:sp>
      <p:sp>
        <p:nvSpPr>
          <p:cNvPr id="3" name="Text 1"/>
          <p:cNvSpPr>
            <a:spLocks noGrp="1"/>
          </p:cNvSpPr>
          <p:nvPr>
            <p:ph type="title"/>
          </p:nvPr>
        </p:nvSpPr>
        <p:spPr>
          <a:xfrm>
            <a:off x="812800" y="1127749"/>
            <a:ext cx="10883393" cy="960097"/>
          </a:xfrm>
          <a:prstGeom prst="rect">
            <a:avLst/>
          </a:prstGeom>
          <a:noFill/>
          <a:ln/>
        </p:spPr>
        <p:txBody>
          <a:bodyPr wrap="square" lIns="0" tIns="0" rIns="0" bIns="0" rtlCol="0" anchor="t">
            <a:normAutofit/>
          </a:bodyPr>
          <a:lstStyle/>
          <a:p>
            <a:pPr marL="0" indent="0" algn="l">
              <a:lnSpc>
                <a:spcPts val="3680"/>
              </a:lnSpc>
              <a:buNone/>
            </a:pPr>
            <a:r>
              <a:rPr lang="es-MX" sz="3200" b="1" i="0" noProof="0" dirty="0">
                <a:solidFill>
                  <a:srgbClr val="14212B"/>
                </a:solidFill>
                <a:latin typeface="Georgia" pitchFamily="18" charset="0"/>
                <a:ea typeface="Georgia" pitchFamily="18" charset="-122"/>
                <a:cs typeface="Georgia" pitchFamily="18" charset="-120"/>
              </a:rPr>
              <a:t>Un método numérico aproxima la solución con aritmética</a:t>
            </a:r>
            <a:endParaRPr lang="es-MX" sz="3200" noProof="0" dirty="0"/>
          </a:p>
        </p:txBody>
      </p:sp>
      <p:sp>
        <p:nvSpPr>
          <p:cNvPr id="4" name="Shape 2"/>
          <p:cNvSpPr/>
          <p:nvPr/>
        </p:nvSpPr>
        <p:spPr>
          <a:xfrm>
            <a:off x="815975" y="2421221"/>
            <a:ext cx="3380298" cy="3417604"/>
          </a:xfrm>
          <a:prstGeom prst="roundRect">
            <a:avLst>
              <a:gd name="adj" fmla="val 2912"/>
            </a:avLst>
          </a:prstGeom>
          <a:solidFill>
            <a:srgbClr val="FFFFFF"/>
          </a:solidFill>
          <a:ln w="6350">
            <a:solidFill>
              <a:srgbClr val="D9E1E7"/>
            </a:solidFill>
            <a:prstDash val="solid"/>
          </a:ln>
        </p:spPr>
        <p:txBody>
          <a:bodyPr/>
          <a:lstStyle/>
          <a:p>
            <a:endParaRPr lang="es-MX" noProof="0" dirty="0"/>
          </a:p>
        </p:txBody>
      </p:sp>
      <p:sp>
        <p:nvSpPr>
          <p:cNvPr id="5" name="Text 3"/>
          <p:cNvSpPr/>
          <p:nvPr/>
        </p:nvSpPr>
        <p:spPr>
          <a:xfrm>
            <a:off x="1095829" y="2701075"/>
            <a:ext cx="2905209" cy="635000"/>
          </a:xfrm>
          <a:prstGeom prst="rect">
            <a:avLst/>
          </a:prstGeom>
          <a:noFill/>
          <a:ln/>
        </p:spPr>
        <p:txBody>
          <a:bodyPr wrap="square" lIns="0" tIns="0" rIns="0" bIns="0" rtlCol="0" anchor="t">
            <a:normAutofit/>
          </a:bodyPr>
          <a:lstStyle/>
          <a:p>
            <a:pPr marL="0" indent="0" algn="l">
              <a:lnSpc>
                <a:spcPts val="2400"/>
              </a:lnSpc>
              <a:buNone/>
            </a:pPr>
            <a:r>
              <a:rPr lang="es-MX" sz="2000" b="1" noProof="0" dirty="0">
                <a:solidFill>
                  <a:srgbClr val="1D6FA5"/>
                </a:solidFill>
                <a:latin typeface="Arial" pitchFamily="34" charset="0"/>
                <a:ea typeface="Arial" pitchFamily="34" charset="-122"/>
                <a:cs typeface="Arial" pitchFamily="34" charset="-120"/>
              </a:rPr>
              <a:t>Solo operaciones básicas</a:t>
            </a:r>
            <a:endParaRPr lang="es-MX" sz="2000" noProof="0" dirty="0"/>
          </a:p>
        </p:txBody>
      </p:sp>
      <p:sp>
        <p:nvSpPr>
          <p:cNvPr id="6" name="Text 4"/>
          <p:cNvSpPr/>
          <p:nvPr/>
        </p:nvSpPr>
        <p:spPr>
          <a:xfrm>
            <a:off x="1095829" y="3437675"/>
            <a:ext cx="2905209" cy="1130300"/>
          </a:xfrm>
          <a:prstGeom prst="rect">
            <a:avLst/>
          </a:prstGeom>
          <a:noFill/>
          <a:ln/>
        </p:spPr>
        <p:txBody>
          <a:bodyPr wrap="square" lIns="0" tIns="0" rIns="0" bIns="0" rtlCol="0" anchor="t">
            <a:normAutofit/>
          </a:bodyPr>
          <a:lstStyle/>
          <a:p>
            <a:pPr marL="0" indent="0" algn="l">
              <a:lnSpc>
                <a:spcPts val="2175"/>
              </a:lnSpc>
              <a:buNone/>
            </a:pPr>
            <a:r>
              <a:rPr lang="es-MX" sz="1500" noProof="0" dirty="0">
                <a:solidFill>
                  <a:srgbClr val="4A5866"/>
                </a:solidFill>
                <a:latin typeface="Arial" pitchFamily="34" charset="0"/>
                <a:ea typeface="Arial" pitchFamily="34" charset="-122"/>
                <a:cs typeface="Arial" pitchFamily="34" charset="-120"/>
              </a:rPr>
              <a:t>Sumas, restas, multiplicaciones y divisiones repetidas paso a paso. Es lo que una computadora hace millones de veces por segundo.</a:t>
            </a:r>
            <a:endParaRPr lang="es-MX" sz="1500" noProof="0" dirty="0"/>
          </a:p>
        </p:txBody>
      </p:sp>
      <p:sp>
        <p:nvSpPr>
          <p:cNvPr id="7" name="Shape 5"/>
          <p:cNvSpPr/>
          <p:nvPr/>
        </p:nvSpPr>
        <p:spPr>
          <a:xfrm>
            <a:off x="4405823" y="2421221"/>
            <a:ext cx="3380355" cy="3417604"/>
          </a:xfrm>
          <a:prstGeom prst="roundRect">
            <a:avLst>
              <a:gd name="adj" fmla="val 2912"/>
            </a:avLst>
          </a:prstGeom>
          <a:solidFill>
            <a:srgbClr val="FFFFFF"/>
          </a:solidFill>
          <a:ln w="6350">
            <a:solidFill>
              <a:srgbClr val="D9E1E7"/>
            </a:solidFill>
            <a:prstDash val="solid"/>
          </a:ln>
        </p:spPr>
        <p:txBody>
          <a:bodyPr/>
          <a:lstStyle/>
          <a:p>
            <a:endParaRPr lang="es-MX" noProof="0" dirty="0"/>
          </a:p>
        </p:txBody>
      </p:sp>
      <p:sp>
        <p:nvSpPr>
          <p:cNvPr id="8" name="Text 6"/>
          <p:cNvSpPr/>
          <p:nvPr/>
        </p:nvSpPr>
        <p:spPr>
          <a:xfrm>
            <a:off x="4685676" y="2701075"/>
            <a:ext cx="2905267" cy="635000"/>
          </a:xfrm>
          <a:prstGeom prst="rect">
            <a:avLst/>
          </a:prstGeom>
          <a:noFill/>
          <a:ln/>
        </p:spPr>
        <p:txBody>
          <a:bodyPr wrap="square" lIns="0" tIns="0" rIns="0" bIns="0" rtlCol="0" anchor="t">
            <a:normAutofit/>
          </a:bodyPr>
          <a:lstStyle/>
          <a:p>
            <a:pPr marL="0" indent="0" algn="l">
              <a:lnSpc>
                <a:spcPts val="2400"/>
              </a:lnSpc>
              <a:buNone/>
            </a:pPr>
            <a:r>
              <a:rPr lang="es-MX" sz="2000" b="1" noProof="0" dirty="0">
                <a:solidFill>
                  <a:srgbClr val="1D6FA5"/>
                </a:solidFill>
                <a:latin typeface="Arial" pitchFamily="34" charset="0"/>
                <a:ea typeface="Arial" pitchFamily="34" charset="-122"/>
                <a:cs typeface="Arial" pitchFamily="34" charset="-120"/>
              </a:rPr>
              <a:t>Da números, no fórmulas</a:t>
            </a:r>
            <a:endParaRPr lang="es-MX" sz="2000" noProof="0" dirty="0"/>
          </a:p>
        </p:txBody>
      </p:sp>
      <p:sp>
        <p:nvSpPr>
          <p:cNvPr id="9" name="Text 7"/>
          <p:cNvSpPr/>
          <p:nvPr/>
        </p:nvSpPr>
        <p:spPr>
          <a:xfrm>
            <a:off x="4685676" y="3437675"/>
            <a:ext cx="2905267" cy="1406525"/>
          </a:xfrm>
          <a:prstGeom prst="rect">
            <a:avLst/>
          </a:prstGeom>
          <a:noFill/>
          <a:ln/>
        </p:spPr>
        <p:txBody>
          <a:bodyPr wrap="square" lIns="0" tIns="0" rIns="0" bIns="0" rtlCol="0" anchor="t">
            <a:normAutofit/>
          </a:bodyPr>
          <a:lstStyle/>
          <a:p>
            <a:pPr marL="0" indent="0" algn="l">
              <a:lnSpc>
                <a:spcPts val="2175"/>
              </a:lnSpc>
              <a:buNone/>
            </a:pPr>
            <a:r>
              <a:rPr lang="es-MX" sz="1500" noProof="0" dirty="0">
                <a:solidFill>
                  <a:srgbClr val="4A5866"/>
                </a:solidFill>
                <a:latin typeface="Arial" pitchFamily="34" charset="0"/>
                <a:ea typeface="Arial" pitchFamily="34" charset="-122"/>
                <a:cs typeface="Arial" pitchFamily="34" charset="-120"/>
              </a:rPr>
              <a:t>Sirve cuando no hay solución exacta, como x = cos(x) o la mayoría de las ecuaciones diferenciales de física e ingeniería.</a:t>
            </a:r>
            <a:endParaRPr lang="es-MX" sz="1500" noProof="0" dirty="0"/>
          </a:p>
        </p:txBody>
      </p:sp>
      <p:sp>
        <p:nvSpPr>
          <p:cNvPr id="10" name="Shape 8"/>
          <p:cNvSpPr/>
          <p:nvPr/>
        </p:nvSpPr>
        <p:spPr>
          <a:xfrm>
            <a:off x="7995727" y="2421221"/>
            <a:ext cx="3380298" cy="3417604"/>
          </a:xfrm>
          <a:prstGeom prst="roundRect">
            <a:avLst>
              <a:gd name="adj" fmla="val 2912"/>
            </a:avLst>
          </a:prstGeom>
          <a:solidFill>
            <a:srgbClr val="FFFFFF"/>
          </a:solidFill>
          <a:ln w="6350">
            <a:solidFill>
              <a:srgbClr val="D9E1E7"/>
            </a:solidFill>
            <a:prstDash val="solid"/>
          </a:ln>
        </p:spPr>
        <p:txBody>
          <a:bodyPr/>
          <a:lstStyle/>
          <a:p>
            <a:endParaRPr lang="es-MX" noProof="0" dirty="0"/>
          </a:p>
        </p:txBody>
      </p:sp>
      <p:sp>
        <p:nvSpPr>
          <p:cNvPr id="11" name="Text 9"/>
          <p:cNvSpPr/>
          <p:nvPr/>
        </p:nvSpPr>
        <p:spPr>
          <a:xfrm>
            <a:off x="8275581" y="2701075"/>
            <a:ext cx="2905209" cy="330200"/>
          </a:xfrm>
          <a:prstGeom prst="rect">
            <a:avLst/>
          </a:prstGeom>
          <a:noFill/>
          <a:ln/>
        </p:spPr>
        <p:txBody>
          <a:bodyPr wrap="square" lIns="0" tIns="0" rIns="0" bIns="0" rtlCol="0" anchor="t">
            <a:normAutofit/>
          </a:bodyPr>
          <a:lstStyle/>
          <a:p>
            <a:pPr marL="0" indent="0" algn="l">
              <a:lnSpc>
                <a:spcPts val="2400"/>
              </a:lnSpc>
              <a:buNone/>
            </a:pPr>
            <a:r>
              <a:rPr lang="es-MX" sz="2000" b="1" noProof="0" dirty="0">
                <a:solidFill>
                  <a:srgbClr val="1D6FA5"/>
                </a:solidFill>
                <a:latin typeface="Arial" pitchFamily="34" charset="0"/>
                <a:ea typeface="Arial" pitchFamily="34" charset="-122"/>
                <a:cs typeface="Arial" pitchFamily="34" charset="-120"/>
              </a:rPr>
              <a:t>Se repite paso a paso</a:t>
            </a:r>
            <a:endParaRPr lang="es-MX" sz="2000" noProof="0" dirty="0"/>
          </a:p>
        </p:txBody>
      </p:sp>
      <p:sp>
        <p:nvSpPr>
          <p:cNvPr id="12" name="Text 10"/>
          <p:cNvSpPr/>
          <p:nvPr/>
        </p:nvSpPr>
        <p:spPr>
          <a:xfrm>
            <a:off x="8275581" y="3132875"/>
            <a:ext cx="2905209" cy="1406525"/>
          </a:xfrm>
          <a:prstGeom prst="rect">
            <a:avLst/>
          </a:prstGeom>
          <a:noFill/>
          <a:ln/>
        </p:spPr>
        <p:txBody>
          <a:bodyPr wrap="square" lIns="0" tIns="0" rIns="0" bIns="0" rtlCol="0" anchor="t">
            <a:normAutofit/>
          </a:bodyPr>
          <a:lstStyle/>
          <a:p>
            <a:pPr marL="0" indent="0" algn="l">
              <a:lnSpc>
                <a:spcPts val="2175"/>
              </a:lnSpc>
              <a:buNone/>
            </a:pPr>
            <a:r>
              <a:rPr lang="es-MX" sz="1500" noProof="0" dirty="0">
                <a:solidFill>
                  <a:srgbClr val="4A5866"/>
                </a:solidFill>
                <a:latin typeface="Arial" pitchFamily="34" charset="0"/>
                <a:ea typeface="Arial" pitchFamily="34" charset="-122"/>
                <a:cs typeface="Arial" pitchFamily="34" charset="-120"/>
              </a:rPr>
              <a:t>Cada resultado alimenta al siguiente cálculo. El mismo procedimiento se aplica una y otra vez hasta llegar al punto buscado.</a:t>
            </a:r>
            <a:endParaRPr lang="es-MX" sz="1500" noProof="0" dirty="0"/>
          </a:p>
        </p:txBody>
      </p:sp>
      <p:sp>
        <p:nvSpPr>
          <p:cNvPr id="13" name="Text 11"/>
          <p:cNvSpPr/>
          <p:nvPr/>
        </p:nvSpPr>
        <p:spPr>
          <a:xfrm>
            <a:off x="812800" y="6238252"/>
            <a:ext cx="39243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2</a:t>
            </a:r>
            <a:endParaRPr lang="es-MX" sz="12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3" cy="238749"/>
          </a:xfrm>
          <a:prstGeom prst="rect">
            <a:avLst/>
          </a:prstGeom>
          <a:noFill/>
          <a:ln/>
        </p:spPr>
        <p:txBody>
          <a:bodyPr wrap="square" lIns="0" tIns="0" rIns="0" bIns="0" rtlCol="0" anchor="t">
            <a:normAutofit/>
          </a:bodyPr>
          <a:lstStyle/>
          <a:p>
            <a:pPr marL="0" indent="0" algn="l">
              <a:lnSpc>
                <a:spcPts val="1680"/>
              </a:lnSpc>
              <a:buNone/>
            </a:pPr>
            <a:r>
              <a:rPr lang="es-MX" sz="1200" b="1" kern="0" spc="150" noProof="0" dirty="0">
                <a:solidFill>
                  <a:srgbClr val="1D6FA5"/>
                </a:solidFill>
                <a:latin typeface="Arial" pitchFamily="34" charset="0"/>
                <a:ea typeface="Arial" pitchFamily="34" charset="-122"/>
                <a:cs typeface="Arial" pitchFamily="34" charset="-120"/>
              </a:rPr>
              <a:t>EL PROBLEMA</a:t>
            </a:r>
            <a:endParaRPr lang="es-MX" sz="1200" noProof="0" dirty="0"/>
          </a:p>
        </p:txBody>
      </p:sp>
      <p:sp>
        <p:nvSpPr>
          <p:cNvPr id="3" name="Text 1"/>
          <p:cNvSpPr>
            <a:spLocks noGrp="1"/>
          </p:cNvSpPr>
          <p:nvPr>
            <p:ph type="title"/>
          </p:nvPr>
        </p:nvSpPr>
        <p:spPr>
          <a:xfrm>
            <a:off x="812800" y="1127750"/>
            <a:ext cx="10883393" cy="492749"/>
          </a:xfrm>
          <a:prstGeom prst="rect">
            <a:avLst/>
          </a:prstGeom>
          <a:noFill/>
          <a:ln/>
        </p:spPr>
        <p:txBody>
          <a:bodyPr wrap="square" lIns="0" tIns="0" rIns="0" bIns="0" rtlCol="0" anchor="t">
            <a:normAutofit/>
          </a:bodyPr>
          <a:lstStyle/>
          <a:p>
            <a:pPr marL="0" indent="0" algn="l">
              <a:lnSpc>
                <a:spcPts val="3680"/>
              </a:lnSpc>
              <a:buNone/>
            </a:pPr>
            <a:r>
              <a:rPr lang="es-MX" sz="3200" b="1" i="0" noProof="0" dirty="0">
                <a:solidFill>
                  <a:srgbClr val="14212B"/>
                </a:solidFill>
                <a:latin typeface="Georgia" pitchFamily="18" charset="0"/>
                <a:ea typeface="Georgia" pitchFamily="18" charset="-122"/>
                <a:cs typeface="Georgia" pitchFamily="18" charset="-120"/>
              </a:rPr>
              <a:t>Conocemos la pendiente, no la función</a:t>
            </a:r>
            <a:endParaRPr lang="es-MX" sz="3200" noProof="0" dirty="0"/>
          </a:p>
        </p:txBody>
      </p:sp>
      <p:sp>
        <p:nvSpPr>
          <p:cNvPr id="4" name="Text 2"/>
          <p:cNvSpPr/>
          <p:nvPr/>
        </p:nvSpPr>
        <p:spPr>
          <a:xfrm>
            <a:off x="815975" y="1953873"/>
            <a:ext cx="4845050" cy="1372507"/>
          </a:xfrm>
          <a:prstGeom prst="roundRect">
            <a:avLst>
              <a:gd name="adj" fmla="val 7171"/>
            </a:avLst>
          </a:prstGeom>
          <a:solidFill>
            <a:srgbClr val="FFFFFF"/>
          </a:solidFill>
          <a:ln w="6350">
            <a:solidFill>
              <a:srgbClr val="D9E1E7"/>
            </a:solidFill>
            <a:prstDash val="solid"/>
          </a:ln>
        </p:spPr>
        <p:txBody>
          <a:bodyPr wrap="square" lIns="251026" tIns="200226" rIns="122466" bIns="174826" rtlCol="0" anchor="t">
            <a:normAutofit/>
          </a:bodyPr>
          <a:lstStyle/>
          <a:p>
            <a:pPr marL="0" indent="0" algn="l">
              <a:lnSpc>
                <a:spcPts val="3600"/>
              </a:lnSpc>
              <a:buNone/>
            </a:pPr>
            <a:r>
              <a:rPr lang="es-MX" sz="2400" noProof="0" dirty="0" err="1">
                <a:solidFill>
                  <a:srgbClr val="14212B"/>
                </a:solidFill>
                <a:latin typeface="Courier New" pitchFamily="49" charset="0"/>
                <a:ea typeface="Courier New" pitchFamily="49" charset="-122"/>
                <a:cs typeface="Courier New" pitchFamily="49" charset="-120"/>
              </a:rPr>
              <a:t>dy</a:t>
            </a:r>
            <a:r>
              <a:rPr lang="es-MX" sz="2400" noProof="0" dirty="0">
                <a:solidFill>
                  <a:srgbClr val="14212B"/>
                </a:solidFill>
                <a:latin typeface="Courier New" pitchFamily="49" charset="0"/>
                <a:ea typeface="Courier New" pitchFamily="49" charset="-122"/>
                <a:cs typeface="Courier New" pitchFamily="49" charset="-120"/>
              </a:rPr>
              <a:t>/</a:t>
            </a:r>
            <a:r>
              <a:rPr lang="es-MX" sz="2400" noProof="0" dirty="0" err="1">
                <a:solidFill>
                  <a:srgbClr val="14212B"/>
                </a:solidFill>
                <a:latin typeface="Courier New" pitchFamily="49" charset="0"/>
                <a:ea typeface="Courier New" pitchFamily="49" charset="-122"/>
                <a:cs typeface="Courier New" pitchFamily="49" charset="-120"/>
              </a:rPr>
              <a:t>dx</a:t>
            </a:r>
            <a:r>
              <a:rPr lang="es-MX" sz="2400" noProof="0" dirty="0">
                <a:solidFill>
                  <a:srgbClr val="14212B"/>
                </a:solidFill>
                <a:latin typeface="Courier New" pitchFamily="49" charset="0"/>
                <a:ea typeface="Courier New" pitchFamily="49" charset="-122"/>
                <a:cs typeface="Courier New" pitchFamily="49" charset="-120"/>
              </a:rPr>
              <a:t> = f(x, y)</a:t>
            </a:r>
            <a:endParaRPr lang="es-MX" sz="2400" noProof="0" dirty="0"/>
          </a:p>
          <a:p>
            <a:pPr marL="0" indent="0" algn="l">
              <a:lnSpc>
                <a:spcPts val="3600"/>
              </a:lnSpc>
              <a:buNone/>
            </a:pPr>
            <a:r>
              <a:rPr lang="es-MX" sz="2400" noProof="0" dirty="0">
                <a:solidFill>
                  <a:srgbClr val="14212B"/>
                </a:solidFill>
                <a:latin typeface="Courier New" pitchFamily="49" charset="0"/>
                <a:ea typeface="Courier New" pitchFamily="49" charset="-122"/>
                <a:cs typeface="Courier New" pitchFamily="49" charset="-120"/>
              </a:rPr>
              <a:t>y(x₀) = y₀</a:t>
            </a:r>
            <a:endParaRPr lang="es-MX" sz="2400" noProof="0" dirty="0"/>
          </a:p>
        </p:txBody>
      </p:sp>
      <p:sp>
        <p:nvSpPr>
          <p:cNvPr id="5" name="Text 3"/>
          <p:cNvSpPr/>
          <p:nvPr/>
        </p:nvSpPr>
        <p:spPr>
          <a:xfrm>
            <a:off x="812800" y="3507355"/>
            <a:ext cx="4996942" cy="299697"/>
          </a:xfrm>
          <a:prstGeom prst="rect">
            <a:avLst/>
          </a:prstGeom>
          <a:noFill/>
          <a:ln/>
        </p:spPr>
        <p:txBody>
          <a:bodyPr wrap="square" lIns="0" tIns="0" rIns="0" bIns="0" rtlCol="0" anchor="t">
            <a:normAutofit/>
          </a:bodyPr>
          <a:lstStyle/>
          <a:p>
            <a:pPr marL="0" indent="0" algn="l">
              <a:lnSpc>
                <a:spcPts val="2160"/>
              </a:lnSpc>
              <a:buNone/>
            </a:pPr>
            <a:r>
              <a:rPr lang="es-MX" sz="1800" b="1" noProof="0" dirty="0">
                <a:solidFill>
                  <a:srgbClr val="14212B"/>
                </a:solidFill>
                <a:latin typeface="Arial" pitchFamily="34" charset="0"/>
                <a:ea typeface="Arial" pitchFamily="34" charset="-122"/>
                <a:cs typeface="Arial" pitchFamily="34" charset="-120"/>
              </a:rPr>
              <a:t>Lo que tenemos</a:t>
            </a:r>
            <a:endParaRPr lang="es-MX" sz="1800" noProof="0" dirty="0"/>
          </a:p>
        </p:txBody>
      </p:sp>
      <p:sp>
        <p:nvSpPr>
          <p:cNvPr id="6" name="Text 4"/>
          <p:cNvSpPr/>
          <p:nvPr/>
        </p:nvSpPr>
        <p:spPr>
          <a:xfrm>
            <a:off x="896620" y="3959453"/>
            <a:ext cx="4905502" cy="882650"/>
          </a:xfrm>
          <a:prstGeom prst="rect">
            <a:avLst/>
          </a:prstGeom>
          <a:noFill/>
          <a:ln/>
        </p:spPr>
        <p:txBody>
          <a:bodyPr wrap="square" lIns="0" tIns="0" rIns="0" bIns="0" rtlCol="0" anchor="t">
            <a:normAutofit/>
          </a:bodyPr>
          <a:lstStyle/>
          <a:p>
            <a:pPr marL="170180" indent="-170180" algn="l">
              <a:lnSpc>
                <a:spcPts val="2250"/>
              </a:lnSpc>
              <a:buSzPct val="100000"/>
              <a:buChar char="•"/>
            </a:pPr>
            <a:r>
              <a:rPr lang="es-MX" sz="1500" noProof="0" dirty="0">
                <a:solidFill>
                  <a:srgbClr val="4A5866"/>
                </a:solidFill>
                <a:latin typeface="Arial" pitchFamily="34" charset="0"/>
                <a:ea typeface="Arial" pitchFamily="34" charset="-122"/>
                <a:cs typeface="Arial" pitchFamily="34" charset="-120"/>
              </a:rPr>
              <a:t>Un punto de partida (x₀, y₀)</a:t>
            </a:r>
            <a:endParaRPr lang="es-MX" sz="1500" noProof="0" dirty="0"/>
          </a:p>
          <a:p>
            <a:pPr marL="170180" indent="-170180" algn="l">
              <a:lnSpc>
                <a:spcPts val="2250"/>
              </a:lnSpc>
              <a:buSzPct val="100000"/>
              <a:buChar char="•"/>
            </a:pPr>
            <a:r>
              <a:rPr lang="es-MX" sz="1500" noProof="0" dirty="0">
                <a:solidFill>
                  <a:srgbClr val="4A5866"/>
                </a:solidFill>
                <a:latin typeface="Arial" pitchFamily="34" charset="0"/>
                <a:ea typeface="Arial" pitchFamily="34" charset="-122"/>
                <a:cs typeface="Arial" pitchFamily="34" charset="-120"/>
              </a:rPr>
              <a:t>Una fórmula para la pendiente en cualquier punto</a:t>
            </a:r>
            <a:endParaRPr lang="es-MX" sz="1500" noProof="0" dirty="0"/>
          </a:p>
          <a:p>
            <a:pPr marL="170180" indent="-170180" algn="l">
              <a:lnSpc>
                <a:spcPts val="2250"/>
              </a:lnSpc>
              <a:buSzPct val="100000"/>
              <a:buChar char="•"/>
            </a:pPr>
            <a:r>
              <a:rPr lang="es-MX" sz="1500" noProof="0" dirty="0">
                <a:solidFill>
                  <a:srgbClr val="4A5866"/>
                </a:solidFill>
                <a:latin typeface="Arial" pitchFamily="34" charset="0"/>
                <a:ea typeface="Arial" pitchFamily="34" charset="-122"/>
                <a:cs typeface="Arial" pitchFamily="34" charset="-120"/>
              </a:rPr>
              <a:t>Un tamaño de paso h</a:t>
            </a:r>
            <a:endParaRPr lang="es-MX" sz="1500" noProof="0" dirty="0"/>
          </a:p>
        </p:txBody>
      </p:sp>
      <p:sp>
        <p:nvSpPr>
          <p:cNvPr id="7" name="Shape 5"/>
          <p:cNvSpPr/>
          <p:nvPr/>
        </p:nvSpPr>
        <p:spPr>
          <a:xfrm>
            <a:off x="5969000" y="1950698"/>
            <a:ext cx="5410200" cy="3891303"/>
          </a:xfrm>
          <a:prstGeom prst="roundRect">
            <a:avLst>
              <a:gd name="adj" fmla="val 2611"/>
            </a:avLst>
          </a:prstGeom>
          <a:solidFill>
            <a:srgbClr val="14212B"/>
          </a:solidFill>
          <a:ln/>
        </p:spPr>
        <p:txBody>
          <a:bodyPr/>
          <a:lstStyle/>
          <a:p>
            <a:endParaRPr lang="es-MX" noProof="0" dirty="0"/>
          </a:p>
        </p:txBody>
      </p:sp>
      <p:sp>
        <p:nvSpPr>
          <p:cNvPr id="8" name="Text 6"/>
          <p:cNvSpPr/>
          <p:nvPr/>
        </p:nvSpPr>
        <p:spPr>
          <a:xfrm>
            <a:off x="6248400" y="2230098"/>
            <a:ext cx="4996942" cy="299697"/>
          </a:xfrm>
          <a:prstGeom prst="rect">
            <a:avLst/>
          </a:prstGeom>
          <a:noFill/>
          <a:ln/>
        </p:spPr>
        <p:txBody>
          <a:bodyPr wrap="square" lIns="0" tIns="0" rIns="0" bIns="0" rtlCol="0" anchor="t">
            <a:normAutofit/>
          </a:bodyPr>
          <a:lstStyle/>
          <a:p>
            <a:pPr marL="0" indent="0" algn="l">
              <a:lnSpc>
                <a:spcPts val="2160"/>
              </a:lnSpc>
              <a:buNone/>
            </a:pPr>
            <a:r>
              <a:rPr lang="es-MX" sz="1800" b="1" noProof="0" dirty="0">
                <a:solidFill>
                  <a:srgbClr val="6CB4E8"/>
                </a:solidFill>
                <a:latin typeface="Arial" pitchFamily="34" charset="0"/>
                <a:ea typeface="Arial" pitchFamily="34" charset="-122"/>
                <a:cs typeface="Arial" pitchFamily="34" charset="-120"/>
              </a:rPr>
              <a:t>Lo que obtenemos</a:t>
            </a:r>
            <a:endParaRPr lang="es-MX" sz="1800" noProof="0" dirty="0"/>
          </a:p>
        </p:txBody>
      </p:sp>
      <p:sp>
        <p:nvSpPr>
          <p:cNvPr id="9" name="Text 7"/>
          <p:cNvSpPr/>
          <p:nvPr/>
        </p:nvSpPr>
        <p:spPr>
          <a:xfrm>
            <a:off x="6248400" y="2656796"/>
            <a:ext cx="4996942" cy="577850"/>
          </a:xfrm>
          <a:prstGeom prst="rect">
            <a:avLst/>
          </a:prstGeom>
          <a:noFill/>
          <a:ln/>
        </p:spPr>
        <p:txBody>
          <a:bodyPr wrap="square" lIns="0" tIns="0" rIns="0" bIns="0" rtlCol="0" anchor="t">
            <a:normAutofit/>
          </a:bodyPr>
          <a:lstStyle/>
          <a:p>
            <a:pPr marL="0" indent="0" algn="l">
              <a:lnSpc>
                <a:spcPts val="2175"/>
              </a:lnSpc>
              <a:buNone/>
            </a:pPr>
            <a:r>
              <a:rPr lang="es-MX" sz="1500" noProof="0" dirty="0">
                <a:solidFill>
                  <a:srgbClr val="B8C7D3"/>
                </a:solidFill>
                <a:latin typeface="Arial" pitchFamily="34" charset="0"/>
                <a:ea typeface="Arial" pitchFamily="34" charset="-122"/>
                <a:cs typeface="Arial" pitchFamily="34" charset="-120"/>
              </a:rPr>
              <a:t>Una tabla de puntos aproximados de la curva solución, no una fórmula de y(x).</a:t>
            </a:r>
            <a:endParaRPr lang="es-MX" sz="1500" noProof="0" dirty="0"/>
          </a:p>
        </p:txBody>
      </p:sp>
      <p:graphicFrame>
        <p:nvGraphicFramePr>
          <p:cNvPr id="10" name="Table 0"/>
          <p:cNvGraphicFramePr>
            <a:graphicFrameLocks noGrp="1"/>
          </p:cNvGraphicFramePr>
          <p:nvPr>
            <p:extLst>
              <p:ext uri="{D42A27DB-BD31-4B8C-83A1-F6EECF244321}">
                <p14:modId xmlns:p14="http://schemas.microsoft.com/office/powerpoint/2010/main" val="3601335127"/>
              </p:ext>
            </p:extLst>
          </p:nvPr>
        </p:nvGraphicFramePr>
        <p:xfrm>
          <a:off x="6259286" y="3372532"/>
          <a:ext cx="4840514" cy="1920875"/>
        </p:xfrm>
        <a:graphic>
          <a:graphicData uri="http://schemas.openxmlformats.org/drawingml/2006/table">
            <a:tbl>
              <a:tblPr/>
              <a:tblGrid>
                <a:gridCol w="2420257">
                  <a:extLst>
                    <a:ext uri="{9D8B030D-6E8A-4147-A177-3AD203B41FA5}">
                      <a16:colId xmlns:a16="http://schemas.microsoft.com/office/drawing/2014/main" val="20000"/>
                    </a:ext>
                  </a:extLst>
                </a:gridCol>
                <a:gridCol w="2420257">
                  <a:extLst>
                    <a:ext uri="{9D8B030D-6E8A-4147-A177-3AD203B41FA5}">
                      <a16:colId xmlns:a16="http://schemas.microsoft.com/office/drawing/2014/main" val="20001"/>
                    </a:ext>
                  </a:extLst>
                </a:gridCol>
              </a:tblGrid>
              <a:tr h="384175">
                <a:tc>
                  <a:txBody>
                    <a:bodyPr/>
                    <a:lstStyle/>
                    <a:p>
                      <a:pPr marL="0" indent="0">
                        <a:lnSpc>
                          <a:spcPts val="1960"/>
                        </a:lnSpc>
                        <a:buNone/>
                      </a:pPr>
                      <a:r>
                        <a:rPr lang="es-MX" sz="1400" b="1" noProof="0" dirty="0">
                          <a:solidFill>
                            <a:srgbClr val="F2F5F7"/>
                          </a:solidFill>
                          <a:latin typeface="Courier New" pitchFamily="49" charset="0"/>
                          <a:ea typeface="Courier New" pitchFamily="49" charset="-122"/>
                          <a:cs typeface="Courier New" pitchFamily="49" charset="-120"/>
                        </a:rPr>
                        <a:t>x</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D24"/>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D24"/>
                      </a:solidFill>
                      <a:prstDash val="solid"/>
                      <a:round/>
                      <a:headEnd type="none" w="med" len="med"/>
                      <a:tailEnd type="none" w="med" len="med"/>
                    </a:lnB>
                    <a:solidFill>
                      <a:srgbClr val="142029"/>
                    </a:solidFill>
                  </a:tcPr>
                </a:tc>
                <a:tc>
                  <a:txBody>
                    <a:bodyPr/>
                    <a:lstStyle/>
                    <a:p>
                      <a:pPr marL="0" indent="0">
                        <a:lnSpc>
                          <a:spcPts val="1960"/>
                        </a:lnSpc>
                        <a:buNone/>
                      </a:pPr>
                      <a:r>
                        <a:rPr lang="es-MX" sz="1400" b="1" noProof="0" dirty="0">
                          <a:solidFill>
                            <a:srgbClr val="F2F5F7"/>
                          </a:solidFill>
                          <a:latin typeface="Courier New" pitchFamily="49" charset="0"/>
                          <a:ea typeface="Courier New" pitchFamily="49" charset="-122"/>
                          <a:cs typeface="Courier New" pitchFamily="49" charset="-120"/>
                        </a:rPr>
                        <a:t>y aproximada</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D24"/>
                      </a:solidFill>
                      <a:prstDash val="solid"/>
                      <a:round/>
                      <a:headEnd type="none" w="med" len="med"/>
                      <a:tailEnd type="none" w="med" len="med"/>
                    </a:lnL>
                    <a:lnR w="12700" cap="flat" cmpd="sng" algn="ctr">
                      <a:solidFill>
                        <a:srgbClr val="141D24"/>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D24"/>
                      </a:solidFill>
                      <a:prstDash val="solid"/>
                      <a:round/>
                      <a:headEnd type="none" w="med" len="med"/>
                      <a:tailEnd type="none" w="med" len="med"/>
                    </a:lnB>
                    <a:solidFill>
                      <a:srgbClr val="142029"/>
                    </a:solidFill>
                  </a:tcPr>
                </a:tc>
                <a:extLst>
                  <a:ext uri="{0D108BD9-81ED-4DB2-BD59-A6C34878D82A}">
                    <a16:rowId xmlns:a16="http://schemas.microsoft.com/office/drawing/2014/main" val="10000"/>
                  </a:ext>
                </a:extLst>
              </a:tr>
              <a:tr h="384175">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x₀</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D24"/>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y₀</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D24"/>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extLst>
                  <a:ext uri="{0D108BD9-81ED-4DB2-BD59-A6C34878D82A}">
                    <a16:rowId xmlns:a16="http://schemas.microsoft.com/office/drawing/2014/main" val="10001"/>
                  </a:ext>
                </a:extLst>
              </a:tr>
              <a:tr h="384175">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x₁ = x₀ + h</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y₁</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extLst>
                  <a:ext uri="{0D108BD9-81ED-4DB2-BD59-A6C34878D82A}">
                    <a16:rowId xmlns:a16="http://schemas.microsoft.com/office/drawing/2014/main" val="10002"/>
                  </a:ext>
                </a:extLst>
              </a:tr>
              <a:tr h="384175">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x₂ = x₁ + h</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y₂</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extLst>
                  <a:ext uri="{0D108BD9-81ED-4DB2-BD59-A6C34878D82A}">
                    <a16:rowId xmlns:a16="http://schemas.microsoft.com/office/drawing/2014/main" val="10003"/>
                  </a:ext>
                </a:extLst>
              </a:tr>
              <a:tr h="384175">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tc>
                  <a:txBody>
                    <a:bodyPr/>
                    <a:lstStyle/>
                    <a:p>
                      <a:pPr marL="0" indent="0">
                        <a:lnSpc>
                          <a:spcPts val="1960"/>
                        </a:lnSpc>
                        <a:buNone/>
                      </a:pPr>
                      <a:r>
                        <a:rPr lang="es-MX" sz="1400" noProof="0" dirty="0">
                          <a:solidFill>
                            <a:srgbClr val="F2F5F7"/>
                          </a:solidFill>
                          <a:latin typeface="Courier New" pitchFamily="49" charset="0"/>
                          <a:ea typeface="Courier New" pitchFamily="49" charset="-122"/>
                          <a:cs typeface="Courier New" pitchFamily="49" charset="-120"/>
                        </a:rPr>
                        <a:t>…</a:t>
                      </a:r>
                      <a:endParaRPr lang="es-MX" sz="1400" noProof="0" dirty="0">
                        <a:latin typeface="Courier New" charset="0"/>
                        <a:ea typeface="Courier New" charset="0"/>
                        <a:cs typeface="Courier New" charset="0"/>
                      </a:endParaRPr>
                    </a:p>
                  </a:txBody>
                  <a:tcPr marL="62230" marR="62230" marT="62230" marB="62230">
                    <a:lnL w="12700" cap="flat" cmpd="sng" algn="ctr">
                      <a:solidFill>
                        <a:srgbClr val="141E26"/>
                      </a:solidFill>
                      <a:prstDash val="solid"/>
                      <a:round/>
                      <a:headEnd type="none" w="med" len="med"/>
                      <a:tailEnd type="none" w="med" len="med"/>
                    </a:lnL>
                    <a:lnR w="12700" cap="flat" cmpd="sng" algn="ctr">
                      <a:solidFill>
                        <a:srgbClr val="141E26"/>
                      </a:solidFill>
                      <a:prstDash val="solid"/>
                      <a:round/>
                      <a:headEnd type="none" w="med" len="med"/>
                      <a:tailEnd type="none" w="med" len="med"/>
                    </a:lnR>
                    <a:lnT w="12700" cap="flat" cmpd="sng" algn="ctr">
                      <a:solidFill>
                        <a:srgbClr val="141E26"/>
                      </a:solidFill>
                      <a:prstDash val="solid"/>
                      <a:round/>
                      <a:headEnd type="none" w="med" len="med"/>
                      <a:tailEnd type="none" w="med" len="med"/>
                    </a:lnT>
                    <a:lnB w="12700" cap="flat" cmpd="sng" algn="ctr">
                      <a:solidFill>
                        <a:srgbClr val="141E2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p:nvPr/>
        </p:nvSpPr>
        <p:spPr>
          <a:xfrm>
            <a:off x="812800" y="6238252"/>
            <a:ext cx="39243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3</a:t>
            </a:r>
            <a:endParaRPr lang="es-MX" sz="12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a:effectLst/>
      </p:bgPr>
    </p:bg>
    <p:spTree>
      <p:nvGrpSpPr>
        <p:cNvPr id="1" name=""/>
        <p:cNvGrpSpPr/>
        <p:nvPr/>
      </p:nvGrpSpPr>
      <p:grpSpPr>
        <a:xfrm>
          <a:off x="0" y="0"/>
          <a:ext cx="0" cy="0"/>
          <a:chOff x="0" y="0"/>
          <a:chExt cx="0" cy="0"/>
        </a:xfrm>
      </p:grpSpPr>
      <p:pic>
        <p:nvPicPr>
          <p:cNvPr id="2" name="Image 0" descr="Un paso de Euler sigue la tangente y se separa de la curva real"/>
          <p:cNvPicPr>
            <a:picLocks noChangeAspect="1"/>
          </p:cNvPicPr>
          <p:nvPr/>
        </p:nvPicPr>
        <p:blipFill>
          <a:blip r:embed="rId3"/>
          <a:srcRect/>
          <a:stretch/>
        </p:blipFill>
        <p:spPr>
          <a:xfrm>
            <a:off x="6553200" y="1905000"/>
            <a:ext cx="4826000" cy="3556000"/>
          </a:xfrm>
          <a:prstGeom prst="rect">
            <a:avLst/>
          </a:prstGeom>
        </p:spPr>
      </p:pic>
      <p:sp>
        <p:nvSpPr>
          <p:cNvPr id="3" name="Text 0"/>
          <p:cNvSpPr/>
          <p:nvPr/>
        </p:nvSpPr>
        <p:spPr>
          <a:xfrm>
            <a:off x="9461501" y="1905000"/>
            <a:ext cx="1962150" cy="256495"/>
          </a:xfrm>
          <a:prstGeom prst="rect">
            <a:avLst/>
          </a:prstGeom>
          <a:noFill/>
          <a:ln/>
        </p:spPr>
        <p:txBody>
          <a:bodyPr wrap="square" lIns="0" tIns="0" rIns="0" bIns="0" rtlCol="0" anchor="t">
            <a:normAutofit/>
          </a:bodyPr>
          <a:lstStyle/>
          <a:p>
            <a:pPr marL="0" indent="0" algn="l">
              <a:lnSpc>
                <a:spcPts val="1820"/>
              </a:lnSpc>
              <a:buNone/>
            </a:pPr>
            <a:r>
              <a:rPr lang="es-MX" sz="1300" b="1" noProof="0" dirty="0">
                <a:solidFill>
                  <a:srgbClr val="14212B"/>
                </a:solidFill>
                <a:latin typeface="Arial" pitchFamily="34" charset="0"/>
                <a:ea typeface="Arial" pitchFamily="34" charset="-122"/>
                <a:cs typeface="Arial" pitchFamily="34" charset="-120"/>
              </a:rPr>
              <a:t>Curva real</a:t>
            </a:r>
            <a:endParaRPr lang="es-MX" sz="1300" noProof="0" dirty="0"/>
          </a:p>
        </p:txBody>
      </p:sp>
      <p:sp>
        <p:nvSpPr>
          <p:cNvPr id="4" name="Text 1"/>
          <p:cNvSpPr/>
          <p:nvPr/>
        </p:nvSpPr>
        <p:spPr>
          <a:xfrm>
            <a:off x="8890001" y="3810000"/>
            <a:ext cx="1701800" cy="256495"/>
          </a:xfrm>
          <a:prstGeom prst="rect">
            <a:avLst/>
          </a:prstGeom>
          <a:noFill/>
          <a:ln/>
        </p:spPr>
        <p:txBody>
          <a:bodyPr wrap="square" lIns="0" tIns="0" rIns="0" bIns="0" rtlCol="0" anchor="t">
            <a:normAutofit/>
          </a:bodyPr>
          <a:lstStyle/>
          <a:p>
            <a:pPr marL="0" indent="0" algn="l">
              <a:lnSpc>
                <a:spcPts val="1820"/>
              </a:lnSpc>
              <a:buNone/>
            </a:pPr>
            <a:r>
              <a:rPr lang="es-MX" sz="1300" b="1" noProof="0" dirty="0">
                <a:solidFill>
                  <a:srgbClr val="B5561A"/>
                </a:solidFill>
                <a:latin typeface="Arial" pitchFamily="34" charset="0"/>
                <a:ea typeface="Arial" pitchFamily="34" charset="-122"/>
                <a:cs typeface="Arial" pitchFamily="34" charset="-120"/>
              </a:rPr>
              <a:t>Paso de Euler</a:t>
            </a:r>
            <a:endParaRPr lang="es-MX" sz="1300" noProof="0" dirty="0"/>
          </a:p>
        </p:txBody>
      </p:sp>
      <p:sp>
        <p:nvSpPr>
          <p:cNvPr id="5" name="Text 2"/>
          <p:cNvSpPr/>
          <p:nvPr/>
        </p:nvSpPr>
        <p:spPr>
          <a:xfrm>
            <a:off x="10477501" y="3048000"/>
            <a:ext cx="952500" cy="256495"/>
          </a:xfrm>
          <a:prstGeom prst="rect">
            <a:avLst/>
          </a:prstGeom>
          <a:noFill/>
          <a:ln/>
        </p:spPr>
        <p:txBody>
          <a:bodyPr wrap="square" lIns="0" tIns="0" rIns="0" bIns="0" rtlCol="0" anchor="t">
            <a:normAutofit/>
          </a:bodyPr>
          <a:lstStyle/>
          <a:p>
            <a:pPr marL="0" indent="0" algn="l">
              <a:lnSpc>
                <a:spcPts val="1820"/>
              </a:lnSpc>
              <a:buNone/>
            </a:pPr>
            <a:r>
              <a:rPr lang="es-MX" sz="1300" noProof="0" dirty="0">
                <a:solidFill>
                  <a:srgbClr val="B5561A"/>
                </a:solidFill>
                <a:latin typeface="Arial" pitchFamily="34" charset="0"/>
                <a:ea typeface="Arial" pitchFamily="34" charset="-122"/>
                <a:cs typeface="Arial" pitchFamily="34" charset="-120"/>
              </a:rPr>
              <a:t>desvío</a:t>
            </a:r>
            <a:endParaRPr lang="es-MX" sz="1300" noProof="0" dirty="0"/>
          </a:p>
        </p:txBody>
      </p:sp>
      <p:sp>
        <p:nvSpPr>
          <p:cNvPr id="6" name="Text 3"/>
          <p:cNvSpPr/>
          <p:nvPr/>
        </p:nvSpPr>
        <p:spPr>
          <a:xfrm>
            <a:off x="7302500" y="5270500"/>
            <a:ext cx="8128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xₙ</a:t>
            </a:r>
            <a:endParaRPr lang="es-MX" sz="1200" noProof="0" dirty="0"/>
          </a:p>
        </p:txBody>
      </p:sp>
      <p:sp>
        <p:nvSpPr>
          <p:cNvPr id="7" name="Text 4"/>
          <p:cNvSpPr/>
          <p:nvPr/>
        </p:nvSpPr>
        <p:spPr>
          <a:xfrm>
            <a:off x="10160001" y="5270500"/>
            <a:ext cx="10668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xₙ + h</a:t>
            </a:r>
            <a:endParaRPr lang="es-MX" sz="1200" noProof="0" dirty="0"/>
          </a:p>
        </p:txBody>
      </p:sp>
      <p:sp>
        <p:nvSpPr>
          <p:cNvPr id="8" name="Text 5"/>
          <p:cNvSpPr/>
          <p:nvPr/>
        </p:nvSpPr>
        <p:spPr>
          <a:xfrm>
            <a:off x="812800" y="812800"/>
            <a:ext cx="5624830" cy="238749"/>
          </a:xfrm>
          <a:prstGeom prst="rect">
            <a:avLst/>
          </a:prstGeom>
          <a:noFill/>
          <a:ln/>
        </p:spPr>
        <p:txBody>
          <a:bodyPr wrap="square" lIns="0" tIns="0" rIns="0" bIns="0" rtlCol="0" anchor="t">
            <a:normAutofit/>
          </a:bodyPr>
          <a:lstStyle/>
          <a:p>
            <a:pPr marL="0" indent="0" algn="l">
              <a:lnSpc>
                <a:spcPts val="1680"/>
              </a:lnSpc>
              <a:buNone/>
            </a:pPr>
            <a:r>
              <a:rPr lang="es-MX" sz="1200" b="1" kern="0" spc="150" noProof="0" dirty="0">
                <a:solidFill>
                  <a:srgbClr val="1D6FA5"/>
                </a:solidFill>
                <a:latin typeface="Arial" pitchFamily="34" charset="0"/>
                <a:ea typeface="Arial" pitchFamily="34" charset="-122"/>
                <a:cs typeface="Arial" pitchFamily="34" charset="-120"/>
              </a:rPr>
              <a:t>DE EULER A RUNGE KUTTA</a:t>
            </a:r>
            <a:endParaRPr lang="es-MX" sz="1200" noProof="0" dirty="0"/>
          </a:p>
        </p:txBody>
      </p:sp>
      <p:sp>
        <p:nvSpPr>
          <p:cNvPr id="9" name="Text 6"/>
          <p:cNvSpPr>
            <a:spLocks noGrp="1"/>
          </p:cNvSpPr>
          <p:nvPr>
            <p:ph type="title"/>
          </p:nvPr>
        </p:nvSpPr>
        <p:spPr>
          <a:xfrm>
            <a:off x="812800" y="1127748"/>
            <a:ext cx="5624830" cy="960097"/>
          </a:xfrm>
          <a:prstGeom prst="rect">
            <a:avLst/>
          </a:prstGeom>
          <a:noFill/>
          <a:ln/>
        </p:spPr>
        <p:txBody>
          <a:bodyPr wrap="square" lIns="0" tIns="0" rIns="0" bIns="0" rtlCol="0" anchor="t">
            <a:normAutofit/>
          </a:bodyPr>
          <a:lstStyle/>
          <a:p>
            <a:pPr marL="0" indent="0" algn="l">
              <a:lnSpc>
                <a:spcPts val="3680"/>
              </a:lnSpc>
              <a:buNone/>
            </a:pPr>
            <a:r>
              <a:rPr lang="es-MX" sz="3200" b="1" i="0" noProof="0" dirty="0">
                <a:solidFill>
                  <a:srgbClr val="14212B"/>
                </a:solidFill>
                <a:latin typeface="Georgia" pitchFamily="18" charset="0"/>
                <a:ea typeface="Georgia" pitchFamily="18" charset="-122"/>
                <a:cs typeface="Georgia" pitchFamily="18" charset="-120"/>
              </a:rPr>
              <a:t>Punto de partida: el método de Euler</a:t>
            </a:r>
            <a:endParaRPr lang="es-MX" sz="3200" noProof="0" dirty="0"/>
          </a:p>
        </p:txBody>
      </p:sp>
      <p:sp>
        <p:nvSpPr>
          <p:cNvPr id="10" name="Text 7"/>
          <p:cNvSpPr/>
          <p:nvPr/>
        </p:nvSpPr>
        <p:spPr>
          <a:xfrm>
            <a:off x="815975" y="2421221"/>
            <a:ext cx="5200650" cy="762907"/>
          </a:xfrm>
          <a:prstGeom prst="roundRect">
            <a:avLst>
              <a:gd name="adj" fmla="val 12901"/>
            </a:avLst>
          </a:prstGeom>
          <a:solidFill>
            <a:srgbClr val="FFFFFF"/>
          </a:solidFill>
          <a:ln w="6350">
            <a:solidFill>
              <a:srgbClr val="D9E1E7"/>
            </a:solidFill>
            <a:prstDash val="solid"/>
          </a:ln>
        </p:spPr>
        <p:txBody>
          <a:bodyPr wrap="square" lIns="225626" tIns="174826" rIns="84874" bIns="149426" rtlCol="0" anchor="t">
            <a:normAutofit/>
          </a:bodyPr>
          <a:lstStyle/>
          <a:p>
            <a:pPr marL="0" indent="0" algn="l">
              <a:lnSpc>
                <a:spcPts val="2800"/>
              </a:lnSpc>
              <a:buNone/>
            </a:pPr>
            <a:r>
              <a:rPr lang="es-MX" sz="2000" noProof="0" dirty="0">
                <a:solidFill>
                  <a:srgbClr val="14212B"/>
                </a:solidFill>
                <a:latin typeface="Courier New" pitchFamily="49" charset="0"/>
                <a:ea typeface="Courier New" pitchFamily="49" charset="-122"/>
                <a:cs typeface="Courier New" pitchFamily="49" charset="-120"/>
              </a:rPr>
              <a:t>yₙ₊₁ = yₙ + h · f(xₙ, yₙ)</a:t>
            </a:r>
            <a:endParaRPr lang="es-MX" sz="2000" noProof="0" dirty="0"/>
          </a:p>
        </p:txBody>
      </p:sp>
      <p:sp>
        <p:nvSpPr>
          <p:cNvPr id="11" name="Text 8"/>
          <p:cNvSpPr/>
          <p:nvPr/>
        </p:nvSpPr>
        <p:spPr>
          <a:xfrm>
            <a:off x="812800" y="3390503"/>
            <a:ext cx="5363210" cy="909184"/>
          </a:xfrm>
          <a:prstGeom prst="rect">
            <a:avLst/>
          </a:prstGeom>
          <a:noFill/>
          <a:ln/>
        </p:spPr>
        <p:txBody>
          <a:bodyPr wrap="square" lIns="0" tIns="0" rIns="0" bIns="0" rtlCol="0" anchor="t">
            <a:normAutofit/>
          </a:bodyPr>
          <a:lstStyle/>
          <a:p>
            <a:pPr marL="0" indent="0" algn="l">
              <a:lnSpc>
                <a:spcPts val="2320"/>
              </a:lnSpc>
              <a:buNone/>
            </a:pPr>
            <a:r>
              <a:rPr lang="es-MX" sz="1600" noProof="0" dirty="0">
                <a:solidFill>
                  <a:srgbClr val="4A5866"/>
                </a:solidFill>
                <a:latin typeface="Arial" pitchFamily="34" charset="0"/>
                <a:ea typeface="Arial" pitchFamily="34" charset="-122"/>
                <a:cs typeface="Arial" pitchFamily="34" charset="-120"/>
              </a:rPr>
              <a:t>Avanza en línea recta con la pendiente que hay </a:t>
            </a:r>
            <a:r>
              <a:rPr lang="es-MX" sz="1600" b="1" noProof="0" dirty="0">
                <a:solidFill>
                  <a:srgbClr val="4A5866"/>
                </a:solidFill>
                <a:latin typeface="Arial" pitchFamily="34" charset="0"/>
                <a:ea typeface="Arial" pitchFamily="34" charset="-122"/>
                <a:cs typeface="Arial" pitchFamily="34" charset="-120"/>
              </a:rPr>
              <a:t>al inicio</a:t>
            </a:r>
            <a:r>
              <a:rPr lang="es-MX" sz="1600" noProof="0" dirty="0">
                <a:solidFill>
                  <a:srgbClr val="4A5866"/>
                </a:solidFill>
                <a:latin typeface="Arial" pitchFamily="34" charset="0"/>
                <a:ea typeface="Arial" pitchFamily="34" charset="-122"/>
                <a:cs typeface="Arial" pitchFamily="34" charset="-120"/>
              </a:rPr>
              <a:t> del paso. Si la curva se dobla durante el paso, la recta se separa de ella.</a:t>
            </a:r>
            <a:endParaRPr lang="es-MX" sz="1600" noProof="0" dirty="0"/>
          </a:p>
        </p:txBody>
      </p:sp>
      <p:sp>
        <p:nvSpPr>
          <p:cNvPr id="12" name="Text 9"/>
          <p:cNvSpPr/>
          <p:nvPr/>
        </p:nvSpPr>
        <p:spPr>
          <a:xfrm>
            <a:off x="812800" y="4477486"/>
            <a:ext cx="5363210" cy="319995"/>
          </a:xfrm>
          <a:prstGeom prst="rect">
            <a:avLst/>
          </a:prstGeom>
          <a:noFill/>
          <a:ln/>
        </p:spPr>
        <p:txBody>
          <a:bodyPr wrap="square" lIns="0" tIns="0" rIns="0" bIns="0" rtlCol="0" anchor="t">
            <a:normAutofit/>
          </a:bodyPr>
          <a:lstStyle/>
          <a:p>
            <a:pPr marL="0" indent="0" algn="l">
              <a:lnSpc>
                <a:spcPts val="2320"/>
              </a:lnSpc>
              <a:buNone/>
            </a:pPr>
            <a:r>
              <a:rPr lang="es-MX" sz="1600" noProof="0" dirty="0">
                <a:solidFill>
                  <a:srgbClr val="4A5866"/>
                </a:solidFill>
                <a:latin typeface="Arial" pitchFamily="34" charset="0"/>
                <a:ea typeface="Arial" pitchFamily="34" charset="-122"/>
                <a:cs typeface="Arial" pitchFamily="34" charset="-120"/>
              </a:rPr>
              <a:t>Usa </a:t>
            </a:r>
            <a:r>
              <a:rPr lang="es-MX" sz="1600" b="1" noProof="0" dirty="0">
                <a:solidFill>
                  <a:srgbClr val="4A5866"/>
                </a:solidFill>
                <a:latin typeface="Arial" pitchFamily="34" charset="0"/>
                <a:ea typeface="Arial" pitchFamily="34" charset="-122"/>
                <a:cs typeface="Arial" pitchFamily="34" charset="-120"/>
              </a:rPr>
              <a:t>una sola pendiente</a:t>
            </a:r>
            <a:r>
              <a:rPr lang="es-MX" sz="1600" noProof="0" dirty="0">
                <a:solidFill>
                  <a:srgbClr val="4A5866"/>
                </a:solidFill>
                <a:latin typeface="Arial" pitchFamily="34" charset="0"/>
                <a:ea typeface="Arial" pitchFamily="34" charset="-122"/>
                <a:cs typeface="Arial" pitchFamily="34" charset="-120"/>
              </a:rPr>
              <a:t> por paso: la del punto (xₙ, yₙ).</a:t>
            </a:r>
            <a:endParaRPr lang="es-MX" sz="1600" noProof="0" dirty="0"/>
          </a:p>
        </p:txBody>
      </p:sp>
      <p:sp>
        <p:nvSpPr>
          <p:cNvPr id="13" name="Text 10"/>
          <p:cNvSpPr/>
          <p:nvPr/>
        </p:nvSpPr>
        <p:spPr>
          <a:xfrm>
            <a:off x="812800" y="6238250"/>
            <a:ext cx="39243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4</a:t>
            </a:r>
            <a:endParaRPr lang="es-MX" sz="12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6FA5"/>
        </a:solidFill>
        <a:effectLst/>
      </p:bgPr>
    </p:bg>
    <p:spTree>
      <p:nvGrpSpPr>
        <p:cNvPr id="1" name=""/>
        <p:cNvGrpSpPr/>
        <p:nvPr/>
      </p:nvGrpSpPr>
      <p:grpSpPr>
        <a:xfrm>
          <a:off x="0" y="0"/>
          <a:ext cx="0" cy="0"/>
          <a:chOff x="0" y="0"/>
          <a:chExt cx="0" cy="0"/>
        </a:xfrm>
      </p:grpSpPr>
      <p:sp>
        <p:nvSpPr>
          <p:cNvPr id="2" name="Text 0"/>
          <p:cNvSpPr/>
          <p:nvPr/>
        </p:nvSpPr>
        <p:spPr>
          <a:xfrm>
            <a:off x="812800" y="1308497"/>
            <a:ext cx="10883393" cy="238749"/>
          </a:xfrm>
          <a:prstGeom prst="rect">
            <a:avLst/>
          </a:prstGeom>
          <a:noFill/>
          <a:ln/>
        </p:spPr>
        <p:txBody>
          <a:bodyPr wrap="square" lIns="0" tIns="0" rIns="0" bIns="0" rtlCol="0" anchor="t">
            <a:normAutofit/>
          </a:bodyPr>
          <a:lstStyle/>
          <a:p>
            <a:pPr marL="0" indent="0" algn="l">
              <a:lnSpc>
                <a:spcPts val="1680"/>
              </a:lnSpc>
              <a:buNone/>
            </a:pPr>
            <a:r>
              <a:rPr lang="es-MX" sz="1200" b="1" kern="0" spc="150" dirty="0">
                <a:solidFill>
                  <a:srgbClr val="D6E8F5"/>
                </a:solidFill>
                <a:latin typeface="Arial" pitchFamily="34" charset="0"/>
                <a:cs typeface="Arial" pitchFamily="34" charset="-120"/>
              </a:rPr>
              <a:t>Como funciona </a:t>
            </a:r>
            <a:r>
              <a:rPr lang="es-MX" sz="1200" b="1" kern="0" spc="150" dirty="0" err="1">
                <a:solidFill>
                  <a:srgbClr val="D6E8F5"/>
                </a:solidFill>
                <a:latin typeface="Arial" pitchFamily="34" charset="0"/>
                <a:cs typeface="Arial" pitchFamily="34" charset="-120"/>
              </a:rPr>
              <a:t>runge</a:t>
            </a:r>
            <a:r>
              <a:rPr lang="es-MX" sz="1200" b="1" kern="0" spc="150" dirty="0">
                <a:solidFill>
                  <a:srgbClr val="D6E8F5"/>
                </a:solidFill>
                <a:latin typeface="Arial" pitchFamily="34" charset="0"/>
                <a:cs typeface="Arial" pitchFamily="34" charset="-120"/>
              </a:rPr>
              <a:t> </a:t>
            </a:r>
            <a:r>
              <a:rPr lang="es-MX" sz="1200" b="1" kern="0" spc="150" dirty="0" err="1">
                <a:solidFill>
                  <a:srgbClr val="D6E8F5"/>
                </a:solidFill>
                <a:latin typeface="Arial" pitchFamily="34" charset="0"/>
                <a:cs typeface="Arial" pitchFamily="34" charset="-120"/>
              </a:rPr>
              <a:t>kutta</a:t>
            </a:r>
            <a:r>
              <a:rPr lang="es-MX" sz="1200" b="1" kern="0" spc="150" dirty="0">
                <a:solidFill>
                  <a:srgbClr val="D6E8F5"/>
                </a:solidFill>
                <a:latin typeface="Arial" pitchFamily="34" charset="0"/>
                <a:cs typeface="Arial" pitchFamily="34" charset="-120"/>
              </a:rPr>
              <a:t>?</a:t>
            </a:r>
            <a:endParaRPr lang="es-MX" sz="1200" noProof="0" dirty="0"/>
          </a:p>
        </p:txBody>
      </p:sp>
      <p:sp>
        <p:nvSpPr>
          <p:cNvPr id="3" name="Text 1"/>
          <p:cNvSpPr>
            <a:spLocks noGrp="1"/>
          </p:cNvSpPr>
          <p:nvPr>
            <p:ph type="title"/>
          </p:nvPr>
        </p:nvSpPr>
        <p:spPr>
          <a:xfrm>
            <a:off x="812800" y="1826648"/>
            <a:ext cx="9810751" cy="2301195"/>
          </a:xfrm>
          <a:prstGeom prst="rect">
            <a:avLst/>
          </a:prstGeom>
          <a:noFill/>
          <a:ln/>
        </p:spPr>
        <p:txBody>
          <a:bodyPr wrap="square" lIns="0" tIns="0" rIns="0" bIns="0" rtlCol="0" anchor="t">
            <a:normAutofit fontScale="90000"/>
          </a:bodyPr>
          <a:lstStyle/>
          <a:p>
            <a:pPr marL="0" indent="0" algn="l">
              <a:lnSpc>
                <a:spcPts val="4480"/>
              </a:lnSpc>
              <a:buNone/>
            </a:pPr>
            <a:r>
              <a:rPr lang="es-MX" sz="5400" b="1" i="0" noProof="0" dirty="0">
                <a:solidFill>
                  <a:srgbClr val="F2F5F7"/>
                </a:solidFill>
                <a:latin typeface="Georgia" pitchFamily="18" charset="0"/>
                <a:ea typeface="Georgia" pitchFamily="18" charset="-122"/>
                <a:cs typeface="Georgia" pitchFamily="18" charset="-120"/>
              </a:rPr>
              <a:t>En lugar de una sola pendiente, avanza con un promedio de varias pendientes</a:t>
            </a:r>
            <a:endParaRPr lang="es-MX" sz="5400" noProof="0" dirty="0"/>
          </a:p>
        </p:txBody>
      </p:sp>
      <p:sp>
        <p:nvSpPr>
          <p:cNvPr id="4" name="Text 2"/>
          <p:cNvSpPr/>
          <p:nvPr/>
        </p:nvSpPr>
        <p:spPr>
          <a:xfrm>
            <a:off x="812800" y="4407241"/>
            <a:ext cx="8502650" cy="964463"/>
          </a:xfrm>
          <a:prstGeom prst="rect">
            <a:avLst/>
          </a:prstGeom>
          <a:noFill/>
          <a:ln/>
        </p:spPr>
        <p:txBody>
          <a:bodyPr wrap="square" lIns="0" tIns="0" rIns="0" bIns="0" rtlCol="0" anchor="t">
            <a:normAutofit/>
          </a:bodyPr>
          <a:lstStyle/>
          <a:p>
            <a:pPr marL="0" indent="0" algn="l">
              <a:lnSpc>
                <a:spcPts val="2465"/>
              </a:lnSpc>
              <a:buNone/>
            </a:pPr>
            <a:r>
              <a:rPr lang="es-MX" sz="1700" noProof="0" dirty="0">
                <a:solidFill>
                  <a:srgbClr val="E4EFF7"/>
                </a:solidFill>
                <a:latin typeface="Arial" pitchFamily="34" charset="0"/>
                <a:ea typeface="Arial" pitchFamily="34" charset="-122"/>
                <a:cs typeface="Arial" pitchFamily="34" charset="-120"/>
              </a:rPr>
              <a:t>Los pesos se eligen para que el resultado coincida con la serie de Taylor de la solución hasta cierto orden, </a:t>
            </a:r>
            <a:r>
              <a:rPr lang="es-MX" sz="1700" b="1" noProof="0" dirty="0">
                <a:solidFill>
                  <a:srgbClr val="E4EFF7"/>
                </a:solidFill>
                <a:latin typeface="Arial" pitchFamily="34" charset="0"/>
                <a:ea typeface="Arial" pitchFamily="34" charset="-122"/>
                <a:cs typeface="Arial" pitchFamily="34" charset="-120"/>
              </a:rPr>
              <a:t>sin tener que calcular derivadas de orden superior</a:t>
            </a:r>
            <a:r>
              <a:rPr lang="es-MX" sz="1700" noProof="0" dirty="0">
                <a:solidFill>
                  <a:srgbClr val="E4EFF7"/>
                </a:solidFill>
                <a:latin typeface="Arial" pitchFamily="34" charset="0"/>
                <a:ea typeface="Arial" pitchFamily="34" charset="-122"/>
                <a:cs typeface="Arial" pitchFamily="34" charset="-120"/>
              </a:rPr>
              <a:t> de f.</a:t>
            </a:r>
            <a:endParaRPr lang="es-MX" sz="1700" noProof="0" dirty="0"/>
          </a:p>
        </p:txBody>
      </p:sp>
      <p:sp>
        <p:nvSpPr>
          <p:cNvPr id="5" name="Text 3"/>
          <p:cNvSpPr/>
          <p:nvPr/>
        </p:nvSpPr>
        <p:spPr>
          <a:xfrm>
            <a:off x="812800" y="6238252"/>
            <a:ext cx="39243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D6E8F5"/>
                </a:solidFill>
                <a:latin typeface="Arial" pitchFamily="34" charset="0"/>
                <a:ea typeface="Arial" pitchFamily="34" charset="-122"/>
                <a:cs typeface="Arial" pitchFamily="34" charset="-120"/>
              </a:rPr>
              <a:t>5</a:t>
            </a:r>
            <a:endParaRPr lang="es-MX" sz="12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12800" y="812803"/>
            <a:ext cx="10883393" cy="238749"/>
          </a:xfrm>
          <a:prstGeom prst="rect">
            <a:avLst/>
          </a:prstGeom>
          <a:noFill/>
          <a:ln/>
        </p:spPr>
        <p:txBody>
          <a:bodyPr wrap="square" lIns="0" tIns="0" rIns="0" bIns="0" rtlCol="0" anchor="t">
            <a:normAutofit/>
          </a:bodyPr>
          <a:lstStyle/>
          <a:p>
            <a:pPr marL="0" indent="0" algn="l">
              <a:lnSpc>
                <a:spcPts val="1680"/>
              </a:lnSpc>
              <a:buNone/>
            </a:pPr>
            <a:r>
              <a:rPr lang="es-MX" sz="1200" b="1" kern="0" spc="150" dirty="0">
                <a:solidFill>
                  <a:srgbClr val="1D6FA5"/>
                </a:solidFill>
                <a:latin typeface="Arial" pitchFamily="34" charset="0"/>
                <a:ea typeface="Arial" pitchFamily="34" charset="-122"/>
                <a:cs typeface="Arial" pitchFamily="34" charset="-120"/>
              </a:rPr>
              <a:t>Porque de cuarto orden?</a:t>
            </a:r>
          </a:p>
        </p:txBody>
      </p:sp>
      <p:sp>
        <p:nvSpPr>
          <p:cNvPr id="3" name="Text 1"/>
          <p:cNvSpPr>
            <a:spLocks noGrp="1"/>
          </p:cNvSpPr>
          <p:nvPr>
            <p:ph type="title"/>
          </p:nvPr>
        </p:nvSpPr>
        <p:spPr>
          <a:xfrm>
            <a:off x="812800" y="1127751"/>
            <a:ext cx="10883393" cy="492749"/>
          </a:xfrm>
          <a:prstGeom prst="rect">
            <a:avLst/>
          </a:prstGeom>
          <a:noFill/>
          <a:ln/>
        </p:spPr>
        <p:txBody>
          <a:bodyPr wrap="square" lIns="0" tIns="0" rIns="0" bIns="0" rtlCol="0" anchor="t">
            <a:normAutofit/>
          </a:bodyPr>
          <a:lstStyle/>
          <a:p>
            <a:pPr marL="0" indent="0" algn="l">
              <a:lnSpc>
                <a:spcPts val="3680"/>
              </a:lnSpc>
              <a:buNone/>
            </a:pPr>
            <a:r>
              <a:rPr lang="es-MX" sz="3200" b="1" i="0" noProof="0" dirty="0">
                <a:solidFill>
                  <a:srgbClr val="14212B"/>
                </a:solidFill>
                <a:latin typeface="Georgia" pitchFamily="18" charset="0"/>
                <a:ea typeface="Georgia" pitchFamily="18" charset="-122"/>
                <a:cs typeface="Georgia" pitchFamily="18" charset="-120"/>
              </a:rPr>
              <a:t>Cuatro pendientes por paso</a:t>
            </a:r>
            <a:endParaRPr lang="es-MX" sz="3200" noProof="0" dirty="0"/>
          </a:p>
        </p:txBody>
      </p:sp>
      <p:sp>
        <p:nvSpPr>
          <p:cNvPr id="4" name="Shape 2"/>
          <p:cNvSpPr/>
          <p:nvPr/>
        </p:nvSpPr>
        <p:spPr>
          <a:xfrm>
            <a:off x="815975" y="1903075"/>
            <a:ext cx="5200650" cy="966051"/>
          </a:xfrm>
          <a:prstGeom prst="roundRect">
            <a:avLst>
              <a:gd name="adj" fmla="val 10188"/>
            </a:avLst>
          </a:prstGeom>
          <a:solidFill>
            <a:srgbClr val="FFFFFF"/>
          </a:solidFill>
          <a:ln w="6350">
            <a:solidFill>
              <a:srgbClr val="D9E1E7"/>
            </a:solidFill>
            <a:prstDash val="solid"/>
          </a:ln>
        </p:spPr>
        <p:txBody>
          <a:bodyPr/>
          <a:lstStyle/>
          <a:p>
            <a:endParaRPr lang="es-MX" noProof="0" dirty="0"/>
          </a:p>
        </p:txBody>
      </p:sp>
      <p:sp>
        <p:nvSpPr>
          <p:cNvPr id="5" name="Text 3"/>
          <p:cNvSpPr/>
          <p:nvPr/>
        </p:nvSpPr>
        <p:spPr>
          <a:xfrm>
            <a:off x="1045029" y="2081327"/>
            <a:ext cx="4884819" cy="274297"/>
          </a:xfrm>
          <a:prstGeom prst="rect">
            <a:avLst/>
          </a:prstGeom>
          <a:noFill/>
          <a:ln/>
        </p:spPr>
        <p:txBody>
          <a:bodyPr wrap="square" lIns="0" tIns="0" rIns="0" bIns="0" rtlCol="0" anchor="t">
            <a:normAutofit/>
          </a:bodyPr>
          <a:lstStyle/>
          <a:p>
            <a:pPr marL="0" indent="0" algn="l">
              <a:lnSpc>
                <a:spcPts val="1960"/>
              </a:lnSpc>
              <a:buNone/>
            </a:pPr>
            <a:r>
              <a:rPr lang="es-MX" sz="1400" b="1" noProof="0" dirty="0">
                <a:solidFill>
                  <a:srgbClr val="1D6FA5"/>
                </a:solidFill>
                <a:latin typeface="Arial" pitchFamily="34" charset="0"/>
                <a:ea typeface="Arial" pitchFamily="34" charset="-122"/>
                <a:cs typeface="Arial" pitchFamily="34" charset="-120"/>
              </a:rPr>
              <a:t>k₁</a:t>
            </a:r>
            <a:r>
              <a:rPr lang="es-MX" sz="1400" noProof="0" dirty="0">
                <a:solidFill>
                  <a:srgbClr val="4A5866"/>
                </a:solidFill>
                <a:latin typeface="Arial" pitchFamily="34" charset="0"/>
                <a:ea typeface="Arial" pitchFamily="34" charset="-122"/>
                <a:cs typeface="Arial" pitchFamily="34" charset="-120"/>
              </a:rPr>
              <a:t> · pendiente al inicio</a:t>
            </a:r>
            <a:endParaRPr lang="es-MX" sz="1400" noProof="0" dirty="0"/>
          </a:p>
        </p:txBody>
      </p:sp>
      <p:sp>
        <p:nvSpPr>
          <p:cNvPr id="6" name="Text 4"/>
          <p:cNvSpPr/>
          <p:nvPr/>
        </p:nvSpPr>
        <p:spPr>
          <a:xfrm>
            <a:off x="1045029" y="2406424"/>
            <a:ext cx="4884819" cy="309846"/>
          </a:xfrm>
          <a:prstGeom prst="rect">
            <a:avLst/>
          </a:prstGeom>
          <a:noFill/>
          <a:ln/>
        </p:spPr>
        <p:txBody>
          <a:bodyPr wrap="square" lIns="0" tIns="0" rIns="0" bIns="0" rtlCol="0" anchor="t">
            <a:normAutofit/>
          </a:bodyPr>
          <a:lstStyle/>
          <a:p>
            <a:pPr marL="0" indent="0" algn="l">
              <a:lnSpc>
                <a:spcPts val="2240"/>
              </a:lnSpc>
              <a:buNone/>
            </a:pPr>
            <a:r>
              <a:rPr lang="es-MX" sz="1600" noProof="0" dirty="0">
                <a:solidFill>
                  <a:srgbClr val="14212B"/>
                </a:solidFill>
                <a:latin typeface="Courier New" pitchFamily="49" charset="0"/>
                <a:ea typeface="Courier New" pitchFamily="49" charset="-122"/>
                <a:cs typeface="Courier New" pitchFamily="49" charset="-120"/>
              </a:rPr>
              <a:t>f(xₙ, yₙ)</a:t>
            </a:r>
            <a:endParaRPr lang="es-MX" sz="1600" noProof="0" dirty="0"/>
          </a:p>
        </p:txBody>
      </p:sp>
      <p:sp>
        <p:nvSpPr>
          <p:cNvPr id="7" name="Shape 5"/>
          <p:cNvSpPr/>
          <p:nvPr/>
        </p:nvSpPr>
        <p:spPr>
          <a:xfrm>
            <a:off x="6175375" y="1903075"/>
            <a:ext cx="5200650" cy="966051"/>
          </a:xfrm>
          <a:prstGeom prst="roundRect">
            <a:avLst>
              <a:gd name="adj" fmla="val 10188"/>
            </a:avLst>
          </a:prstGeom>
          <a:solidFill>
            <a:srgbClr val="FFFFFF"/>
          </a:solidFill>
          <a:ln w="6350">
            <a:solidFill>
              <a:srgbClr val="D9E1E7"/>
            </a:solidFill>
            <a:prstDash val="solid"/>
          </a:ln>
        </p:spPr>
        <p:txBody>
          <a:bodyPr/>
          <a:lstStyle/>
          <a:p>
            <a:endParaRPr lang="es-MX" noProof="0" dirty="0"/>
          </a:p>
        </p:txBody>
      </p:sp>
      <p:sp>
        <p:nvSpPr>
          <p:cNvPr id="8" name="Text 6"/>
          <p:cNvSpPr/>
          <p:nvPr/>
        </p:nvSpPr>
        <p:spPr>
          <a:xfrm>
            <a:off x="6404429" y="2081327"/>
            <a:ext cx="4884819" cy="274297"/>
          </a:xfrm>
          <a:prstGeom prst="rect">
            <a:avLst/>
          </a:prstGeom>
          <a:noFill/>
          <a:ln/>
        </p:spPr>
        <p:txBody>
          <a:bodyPr wrap="square" lIns="0" tIns="0" rIns="0" bIns="0" rtlCol="0" anchor="t">
            <a:normAutofit/>
          </a:bodyPr>
          <a:lstStyle/>
          <a:p>
            <a:pPr marL="0" indent="0" algn="l">
              <a:lnSpc>
                <a:spcPts val="1960"/>
              </a:lnSpc>
              <a:buNone/>
            </a:pPr>
            <a:r>
              <a:rPr lang="es-MX" sz="1400" b="1" noProof="0" dirty="0">
                <a:solidFill>
                  <a:srgbClr val="1D6FA5"/>
                </a:solidFill>
                <a:latin typeface="Arial" pitchFamily="34" charset="0"/>
                <a:ea typeface="Arial" pitchFamily="34" charset="-122"/>
                <a:cs typeface="Arial" pitchFamily="34" charset="-120"/>
              </a:rPr>
              <a:t>k₂</a:t>
            </a:r>
            <a:r>
              <a:rPr lang="es-MX" sz="1400" noProof="0" dirty="0">
                <a:solidFill>
                  <a:srgbClr val="4A5866"/>
                </a:solidFill>
                <a:latin typeface="Arial" pitchFamily="34" charset="0"/>
                <a:ea typeface="Arial" pitchFamily="34" charset="-122"/>
                <a:cs typeface="Arial" pitchFamily="34" charset="-120"/>
              </a:rPr>
              <a:t> · a la mitad, usando k₁</a:t>
            </a:r>
            <a:endParaRPr lang="es-MX" sz="1400" noProof="0" dirty="0"/>
          </a:p>
        </p:txBody>
      </p:sp>
      <p:sp>
        <p:nvSpPr>
          <p:cNvPr id="9" name="Text 7"/>
          <p:cNvSpPr/>
          <p:nvPr/>
        </p:nvSpPr>
        <p:spPr>
          <a:xfrm>
            <a:off x="6404429" y="2406424"/>
            <a:ext cx="4884819" cy="309846"/>
          </a:xfrm>
          <a:prstGeom prst="rect">
            <a:avLst/>
          </a:prstGeom>
          <a:noFill/>
          <a:ln/>
        </p:spPr>
        <p:txBody>
          <a:bodyPr wrap="square" lIns="0" tIns="0" rIns="0" bIns="0" rtlCol="0" anchor="t">
            <a:normAutofit/>
          </a:bodyPr>
          <a:lstStyle/>
          <a:p>
            <a:pPr marL="0" indent="0" algn="l">
              <a:lnSpc>
                <a:spcPts val="2240"/>
              </a:lnSpc>
              <a:buNone/>
            </a:pPr>
            <a:r>
              <a:rPr lang="es-MX" sz="1600" noProof="0" dirty="0">
                <a:solidFill>
                  <a:srgbClr val="14212B"/>
                </a:solidFill>
                <a:latin typeface="Courier New" pitchFamily="49" charset="0"/>
                <a:ea typeface="Courier New" pitchFamily="49" charset="-122"/>
                <a:cs typeface="Courier New" pitchFamily="49" charset="-120"/>
              </a:rPr>
              <a:t>f(xₙ + h/2, yₙ + (h/2)·k₁)</a:t>
            </a:r>
            <a:endParaRPr lang="es-MX" sz="1600" noProof="0" dirty="0"/>
          </a:p>
        </p:txBody>
      </p:sp>
      <p:sp>
        <p:nvSpPr>
          <p:cNvPr id="10" name="Shape 8"/>
          <p:cNvSpPr/>
          <p:nvPr/>
        </p:nvSpPr>
        <p:spPr>
          <a:xfrm>
            <a:off x="815975" y="3252001"/>
            <a:ext cx="5200650" cy="966051"/>
          </a:xfrm>
          <a:prstGeom prst="roundRect">
            <a:avLst>
              <a:gd name="adj" fmla="val 10188"/>
            </a:avLst>
          </a:prstGeom>
          <a:solidFill>
            <a:srgbClr val="FFFFFF"/>
          </a:solidFill>
          <a:ln w="6350">
            <a:solidFill>
              <a:srgbClr val="D9E1E7"/>
            </a:solidFill>
            <a:prstDash val="solid"/>
          </a:ln>
        </p:spPr>
        <p:txBody>
          <a:bodyPr/>
          <a:lstStyle/>
          <a:p>
            <a:endParaRPr lang="es-MX" noProof="0" dirty="0"/>
          </a:p>
        </p:txBody>
      </p:sp>
      <p:sp>
        <p:nvSpPr>
          <p:cNvPr id="11" name="Text 9"/>
          <p:cNvSpPr/>
          <p:nvPr/>
        </p:nvSpPr>
        <p:spPr>
          <a:xfrm>
            <a:off x="1045029" y="3430254"/>
            <a:ext cx="4884819" cy="274297"/>
          </a:xfrm>
          <a:prstGeom prst="rect">
            <a:avLst/>
          </a:prstGeom>
          <a:noFill/>
          <a:ln/>
        </p:spPr>
        <p:txBody>
          <a:bodyPr wrap="square" lIns="0" tIns="0" rIns="0" bIns="0" rtlCol="0" anchor="t">
            <a:normAutofit/>
          </a:bodyPr>
          <a:lstStyle/>
          <a:p>
            <a:pPr marL="0" indent="0" algn="l">
              <a:lnSpc>
                <a:spcPts val="1960"/>
              </a:lnSpc>
              <a:buNone/>
            </a:pPr>
            <a:r>
              <a:rPr lang="es-MX" sz="1400" b="1" noProof="0" dirty="0">
                <a:solidFill>
                  <a:srgbClr val="1D6FA5"/>
                </a:solidFill>
                <a:latin typeface="Arial" pitchFamily="34" charset="0"/>
                <a:ea typeface="Arial" pitchFamily="34" charset="-122"/>
                <a:cs typeface="Arial" pitchFamily="34" charset="-120"/>
              </a:rPr>
              <a:t>k₃</a:t>
            </a:r>
            <a:r>
              <a:rPr lang="es-MX" sz="1400" noProof="0" dirty="0">
                <a:solidFill>
                  <a:srgbClr val="4A5866"/>
                </a:solidFill>
                <a:latin typeface="Arial" pitchFamily="34" charset="0"/>
                <a:ea typeface="Arial" pitchFamily="34" charset="-122"/>
                <a:cs typeface="Arial" pitchFamily="34" charset="-120"/>
              </a:rPr>
              <a:t> · otra vez a la mitad, usando k₂</a:t>
            </a:r>
            <a:endParaRPr lang="es-MX" sz="1400" noProof="0" dirty="0"/>
          </a:p>
        </p:txBody>
      </p:sp>
      <p:sp>
        <p:nvSpPr>
          <p:cNvPr id="12" name="Text 10"/>
          <p:cNvSpPr/>
          <p:nvPr/>
        </p:nvSpPr>
        <p:spPr>
          <a:xfrm>
            <a:off x="1045029" y="3755353"/>
            <a:ext cx="4884819" cy="309846"/>
          </a:xfrm>
          <a:prstGeom prst="rect">
            <a:avLst/>
          </a:prstGeom>
          <a:noFill/>
          <a:ln/>
        </p:spPr>
        <p:txBody>
          <a:bodyPr wrap="square" lIns="0" tIns="0" rIns="0" bIns="0" rtlCol="0" anchor="t">
            <a:normAutofit/>
          </a:bodyPr>
          <a:lstStyle/>
          <a:p>
            <a:pPr marL="0" indent="0" algn="l">
              <a:lnSpc>
                <a:spcPts val="2240"/>
              </a:lnSpc>
              <a:buNone/>
            </a:pPr>
            <a:r>
              <a:rPr lang="es-MX" sz="1600" noProof="0" dirty="0">
                <a:solidFill>
                  <a:srgbClr val="14212B"/>
                </a:solidFill>
                <a:latin typeface="Courier New" pitchFamily="49" charset="0"/>
                <a:ea typeface="Courier New" pitchFamily="49" charset="-122"/>
                <a:cs typeface="Courier New" pitchFamily="49" charset="-120"/>
              </a:rPr>
              <a:t>f(xₙ + h/2, yₙ + (h/2)·k₂)</a:t>
            </a:r>
            <a:endParaRPr lang="es-MX" sz="1600" noProof="0" dirty="0"/>
          </a:p>
        </p:txBody>
      </p:sp>
      <p:sp>
        <p:nvSpPr>
          <p:cNvPr id="13" name="Shape 11"/>
          <p:cNvSpPr/>
          <p:nvPr/>
        </p:nvSpPr>
        <p:spPr>
          <a:xfrm>
            <a:off x="6175375" y="3252001"/>
            <a:ext cx="5200650" cy="966051"/>
          </a:xfrm>
          <a:prstGeom prst="roundRect">
            <a:avLst>
              <a:gd name="adj" fmla="val 10188"/>
            </a:avLst>
          </a:prstGeom>
          <a:solidFill>
            <a:srgbClr val="FFFFFF"/>
          </a:solidFill>
          <a:ln w="6350">
            <a:solidFill>
              <a:srgbClr val="D9E1E7"/>
            </a:solidFill>
            <a:prstDash val="solid"/>
          </a:ln>
        </p:spPr>
        <p:txBody>
          <a:bodyPr/>
          <a:lstStyle/>
          <a:p>
            <a:endParaRPr lang="es-MX" noProof="0" dirty="0"/>
          </a:p>
        </p:txBody>
      </p:sp>
      <p:sp>
        <p:nvSpPr>
          <p:cNvPr id="14" name="Text 12"/>
          <p:cNvSpPr/>
          <p:nvPr/>
        </p:nvSpPr>
        <p:spPr>
          <a:xfrm>
            <a:off x="6404429" y="3430254"/>
            <a:ext cx="4884819" cy="274297"/>
          </a:xfrm>
          <a:prstGeom prst="rect">
            <a:avLst/>
          </a:prstGeom>
          <a:noFill/>
          <a:ln/>
        </p:spPr>
        <p:txBody>
          <a:bodyPr wrap="square" lIns="0" tIns="0" rIns="0" bIns="0" rtlCol="0" anchor="t">
            <a:normAutofit/>
          </a:bodyPr>
          <a:lstStyle/>
          <a:p>
            <a:pPr marL="0" indent="0" algn="l">
              <a:lnSpc>
                <a:spcPts val="1960"/>
              </a:lnSpc>
              <a:buNone/>
            </a:pPr>
            <a:r>
              <a:rPr lang="es-MX" sz="1400" b="1" noProof="0" dirty="0">
                <a:solidFill>
                  <a:srgbClr val="1D6FA5"/>
                </a:solidFill>
                <a:latin typeface="Arial" pitchFamily="34" charset="0"/>
                <a:ea typeface="Arial" pitchFamily="34" charset="-122"/>
                <a:cs typeface="Arial" pitchFamily="34" charset="-120"/>
              </a:rPr>
              <a:t>k₄</a:t>
            </a:r>
            <a:r>
              <a:rPr lang="es-MX" sz="1400" noProof="0" dirty="0">
                <a:solidFill>
                  <a:srgbClr val="4A5866"/>
                </a:solidFill>
                <a:latin typeface="Arial" pitchFamily="34" charset="0"/>
                <a:ea typeface="Arial" pitchFamily="34" charset="-122"/>
                <a:cs typeface="Arial" pitchFamily="34" charset="-120"/>
              </a:rPr>
              <a:t> · al final, usando k₃</a:t>
            </a:r>
            <a:endParaRPr lang="es-MX" sz="1400" noProof="0" dirty="0"/>
          </a:p>
        </p:txBody>
      </p:sp>
      <p:sp>
        <p:nvSpPr>
          <p:cNvPr id="15" name="Text 13"/>
          <p:cNvSpPr/>
          <p:nvPr/>
        </p:nvSpPr>
        <p:spPr>
          <a:xfrm>
            <a:off x="6404429" y="3755353"/>
            <a:ext cx="4884819" cy="309846"/>
          </a:xfrm>
          <a:prstGeom prst="rect">
            <a:avLst/>
          </a:prstGeom>
          <a:noFill/>
          <a:ln/>
        </p:spPr>
        <p:txBody>
          <a:bodyPr wrap="square" lIns="0" tIns="0" rIns="0" bIns="0" rtlCol="0" anchor="t">
            <a:normAutofit/>
          </a:bodyPr>
          <a:lstStyle/>
          <a:p>
            <a:pPr marL="0" indent="0" algn="l">
              <a:lnSpc>
                <a:spcPts val="2240"/>
              </a:lnSpc>
              <a:buNone/>
            </a:pPr>
            <a:r>
              <a:rPr lang="es-MX" sz="1600" noProof="0" dirty="0">
                <a:solidFill>
                  <a:srgbClr val="14212B"/>
                </a:solidFill>
                <a:latin typeface="Courier New" pitchFamily="49" charset="0"/>
                <a:ea typeface="Courier New" pitchFamily="49" charset="-122"/>
                <a:cs typeface="Courier New" pitchFamily="49" charset="-120"/>
              </a:rPr>
              <a:t>f(xₙ + h, yₙ + </a:t>
            </a:r>
            <a:r>
              <a:rPr lang="es-MX" sz="1600" noProof="0" dirty="0" err="1">
                <a:solidFill>
                  <a:srgbClr val="14212B"/>
                </a:solidFill>
                <a:latin typeface="Courier New" pitchFamily="49" charset="0"/>
                <a:ea typeface="Courier New" pitchFamily="49" charset="-122"/>
                <a:cs typeface="Courier New" pitchFamily="49" charset="-120"/>
              </a:rPr>
              <a:t>h·k</a:t>
            </a:r>
            <a:r>
              <a:rPr lang="es-MX" sz="1600" noProof="0" dirty="0">
                <a:solidFill>
                  <a:srgbClr val="14212B"/>
                </a:solidFill>
                <a:latin typeface="Courier New" pitchFamily="49" charset="0"/>
                <a:ea typeface="Courier New" pitchFamily="49" charset="-122"/>
                <a:cs typeface="Courier New" pitchFamily="49" charset="-120"/>
              </a:rPr>
              <a:t>₃)</a:t>
            </a:r>
            <a:endParaRPr lang="es-MX" sz="1600" noProof="0" dirty="0"/>
          </a:p>
        </p:txBody>
      </p:sp>
      <p:sp>
        <p:nvSpPr>
          <p:cNvPr id="16" name="Shape 14"/>
          <p:cNvSpPr/>
          <p:nvPr/>
        </p:nvSpPr>
        <p:spPr>
          <a:xfrm>
            <a:off x="3095048" y="4769755"/>
            <a:ext cx="6160654" cy="954995"/>
          </a:xfrm>
          <a:prstGeom prst="roundRect">
            <a:avLst>
              <a:gd name="adj" fmla="val 10639"/>
            </a:avLst>
          </a:prstGeom>
          <a:solidFill>
            <a:srgbClr val="14212B"/>
          </a:solidFill>
          <a:ln/>
        </p:spPr>
        <p:txBody>
          <a:bodyPr/>
          <a:lstStyle/>
          <a:p>
            <a:endParaRPr lang="es-MX" noProof="0" dirty="0"/>
          </a:p>
        </p:txBody>
      </p:sp>
      <p:sp>
        <p:nvSpPr>
          <p:cNvPr id="17" name="Text 15"/>
          <p:cNvSpPr/>
          <p:nvPr/>
        </p:nvSpPr>
        <p:spPr>
          <a:xfrm>
            <a:off x="3374447" y="5069454"/>
            <a:ext cx="4846920" cy="381000"/>
          </a:xfrm>
          <a:prstGeom prst="rect">
            <a:avLst/>
          </a:prstGeom>
          <a:noFill/>
          <a:ln/>
        </p:spPr>
        <p:txBody>
          <a:bodyPr wrap="none" lIns="0" tIns="0" rIns="0" bIns="0" rtlCol="0" anchor="t">
            <a:normAutofit/>
          </a:bodyPr>
          <a:lstStyle/>
          <a:p>
            <a:pPr marL="0" indent="0" algn="l">
              <a:lnSpc>
                <a:spcPts val="2800"/>
              </a:lnSpc>
              <a:buNone/>
            </a:pPr>
            <a:r>
              <a:rPr lang="es-MX" sz="2000" noProof="0" dirty="0">
                <a:solidFill>
                  <a:srgbClr val="F2F5F7"/>
                </a:solidFill>
                <a:latin typeface="Courier New" pitchFamily="49" charset="0"/>
                <a:ea typeface="Courier New" pitchFamily="49" charset="-122"/>
                <a:cs typeface="Courier New" pitchFamily="49" charset="-120"/>
              </a:rPr>
              <a:t>yₙ₊₁ = yₙ + (h/6)·(k₁ + 2k₂ + 2k₃ + k₄)</a:t>
            </a:r>
            <a:endParaRPr lang="es-MX" sz="2000" noProof="0" dirty="0"/>
          </a:p>
        </p:txBody>
      </p:sp>
      <p:sp>
        <p:nvSpPr>
          <p:cNvPr id="19" name="Text 17"/>
          <p:cNvSpPr/>
          <p:nvPr/>
        </p:nvSpPr>
        <p:spPr>
          <a:xfrm>
            <a:off x="812800" y="6238252"/>
            <a:ext cx="39243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6</a:t>
            </a:r>
            <a:endParaRPr lang="es-MX" sz="12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0F4"/>
        </a:solidFill>
        <a:effectLst/>
      </p:bgPr>
    </p:bg>
    <p:spTree>
      <p:nvGrpSpPr>
        <p:cNvPr id="1" name=""/>
        <p:cNvGrpSpPr/>
        <p:nvPr/>
      </p:nvGrpSpPr>
      <p:grpSpPr>
        <a:xfrm>
          <a:off x="0" y="0"/>
          <a:ext cx="0" cy="0"/>
          <a:chOff x="0" y="0"/>
          <a:chExt cx="0" cy="0"/>
        </a:xfrm>
      </p:grpSpPr>
      <p:sp>
        <p:nvSpPr>
          <p:cNvPr id="2" name="Text 0"/>
          <p:cNvSpPr/>
          <p:nvPr/>
        </p:nvSpPr>
        <p:spPr>
          <a:xfrm>
            <a:off x="822036" y="812800"/>
            <a:ext cx="10883393" cy="238749"/>
          </a:xfrm>
          <a:prstGeom prst="rect">
            <a:avLst/>
          </a:prstGeom>
          <a:noFill/>
          <a:ln/>
        </p:spPr>
        <p:txBody>
          <a:bodyPr wrap="square" lIns="0" tIns="0" rIns="0" bIns="0" rtlCol="0" anchor="t">
            <a:normAutofit/>
          </a:bodyPr>
          <a:lstStyle/>
          <a:p>
            <a:pPr marL="0" indent="0" algn="l">
              <a:lnSpc>
                <a:spcPts val="1680"/>
              </a:lnSpc>
              <a:buNone/>
            </a:pPr>
            <a:r>
              <a:rPr lang="es-MX" sz="1200" b="1" kern="0" spc="150" noProof="0" dirty="0">
                <a:solidFill>
                  <a:srgbClr val="1D6FA5"/>
                </a:solidFill>
                <a:latin typeface="Arial" pitchFamily="34" charset="0"/>
                <a:ea typeface="Arial" pitchFamily="34" charset="-122"/>
                <a:cs typeface="Arial" pitchFamily="34" charset="-120"/>
              </a:rPr>
              <a:t>RELACIÓN CON EULER?</a:t>
            </a:r>
            <a:endParaRPr lang="es-MX" sz="1200" noProof="0" dirty="0"/>
          </a:p>
        </p:txBody>
      </p:sp>
      <p:sp>
        <p:nvSpPr>
          <p:cNvPr id="3" name="Text 1"/>
          <p:cNvSpPr>
            <a:spLocks noGrp="1"/>
          </p:cNvSpPr>
          <p:nvPr>
            <p:ph type="title"/>
          </p:nvPr>
        </p:nvSpPr>
        <p:spPr>
          <a:xfrm>
            <a:off x="812800" y="1127748"/>
            <a:ext cx="10883393" cy="492749"/>
          </a:xfrm>
          <a:prstGeom prst="rect">
            <a:avLst/>
          </a:prstGeom>
          <a:noFill/>
          <a:ln/>
        </p:spPr>
        <p:txBody>
          <a:bodyPr wrap="square" lIns="0" tIns="0" rIns="0" bIns="0" rtlCol="0" anchor="t">
            <a:normAutofit/>
          </a:bodyPr>
          <a:lstStyle/>
          <a:p>
            <a:pPr marL="0" indent="0" algn="l">
              <a:lnSpc>
                <a:spcPts val="3680"/>
              </a:lnSpc>
              <a:buNone/>
            </a:pPr>
            <a:r>
              <a:rPr lang="es-MX" sz="3200" b="1" i="0" noProof="0" dirty="0">
                <a:solidFill>
                  <a:srgbClr val="14212B"/>
                </a:solidFill>
                <a:latin typeface="Georgia" pitchFamily="18" charset="0"/>
                <a:ea typeface="Georgia" pitchFamily="18" charset="-122"/>
                <a:cs typeface="Georgia" pitchFamily="18" charset="-120"/>
              </a:rPr>
              <a:t>Euler es un Runge </a:t>
            </a:r>
            <a:r>
              <a:rPr lang="es-MX" sz="3200" b="1" i="0" noProof="0" dirty="0" err="1">
                <a:solidFill>
                  <a:srgbClr val="14212B"/>
                </a:solidFill>
                <a:latin typeface="Georgia" pitchFamily="18" charset="0"/>
                <a:ea typeface="Georgia" pitchFamily="18" charset="-122"/>
                <a:cs typeface="Georgia" pitchFamily="18" charset="-120"/>
              </a:rPr>
              <a:t>Kutta</a:t>
            </a:r>
            <a:r>
              <a:rPr lang="es-MX" sz="3200" b="1" i="0" noProof="0" dirty="0">
                <a:solidFill>
                  <a:srgbClr val="14212B"/>
                </a:solidFill>
                <a:latin typeface="Georgia" pitchFamily="18" charset="0"/>
                <a:ea typeface="Georgia" pitchFamily="18" charset="-122"/>
                <a:cs typeface="Georgia" pitchFamily="18" charset="-120"/>
              </a:rPr>
              <a:t> más simple</a:t>
            </a:r>
            <a:endParaRPr lang="es-MX" sz="3200" noProof="0" dirty="0"/>
          </a:p>
        </p:txBody>
      </p:sp>
      <p:sp>
        <p:nvSpPr>
          <p:cNvPr id="4" name="Text 2"/>
          <p:cNvSpPr/>
          <p:nvPr/>
        </p:nvSpPr>
        <p:spPr>
          <a:xfrm>
            <a:off x="815975" y="1903071"/>
            <a:ext cx="10560051" cy="676502"/>
          </a:xfrm>
          <a:prstGeom prst="roundRect">
            <a:avLst>
              <a:gd name="adj" fmla="val 14549"/>
            </a:avLst>
          </a:prstGeom>
          <a:solidFill>
            <a:srgbClr val="FFFFFF"/>
          </a:solidFill>
          <a:ln w="6350">
            <a:solidFill>
              <a:srgbClr val="D9E1E7"/>
            </a:solidFill>
            <a:prstDash val="solid"/>
          </a:ln>
        </p:spPr>
        <p:txBody>
          <a:bodyPr wrap="square" lIns="225626" tIns="149426" rIns="0" bIns="124026" rtlCol="0" anchor="t">
            <a:normAutofit/>
          </a:bodyPr>
          <a:lstStyle/>
          <a:p>
            <a:pPr marL="0" indent="0" algn="l">
              <a:lnSpc>
                <a:spcPts val="2520"/>
              </a:lnSpc>
              <a:buNone/>
            </a:pPr>
            <a:r>
              <a:rPr lang="es-MX" sz="1800" noProof="0" dirty="0">
                <a:solidFill>
                  <a:srgbClr val="14212B"/>
                </a:solidFill>
                <a:latin typeface="Courier New" pitchFamily="49" charset="0"/>
                <a:ea typeface="Courier New" pitchFamily="49" charset="-122"/>
                <a:cs typeface="Courier New" pitchFamily="49" charset="-120"/>
              </a:rPr>
              <a:t>nuevo valor = valor actual + h × (una pendiente)</a:t>
            </a:r>
            <a:endParaRPr lang="es-MX" sz="1800" noProof="0" dirty="0"/>
          </a:p>
        </p:txBody>
      </p:sp>
      <p:graphicFrame>
        <p:nvGraphicFramePr>
          <p:cNvPr id="5" name="Table 0"/>
          <p:cNvGraphicFramePr>
            <a:graphicFrameLocks noGrp="1"/>
          </p:cNvGraphicFramePr>
          <p:nvPr>
            <p:extLst>
              <p:ext uri="{D42A27DB-BD31-4B8C-83A1-F6EECF244321}">
                <p14:modId xmlns:p14="http://schemas.microsoft.com/office/powerpoint/2010/main" val="3113874900"/>
              </p:ext>
            </p:extLst>
          </p:nvPr>
        </p:nvGraphicFramePr>
        <p:xfrm>
          <a:off x="823686" y="2898434"/>
          <a:ext cx="10555515" cy="1643744"/>
        </p:xfrm>
        <a:graphic>
          <a:graphicData uri="http://schemas.openxmlformats.org/drawingml/2006/table">
            <a:tbl>
              <a:tblPr/>
              <a:tblGrid>
                <a:gridCol w="3799985">
                  <a:extLst>
                    <a:ext uri="{9D8B030D-6E8A-4147-A177-3AD203B41FA5}">
                      <a16:colId xmlns:a16="http://schemas.microsoft.com/office/drawing/2014/main" val="20000"/>
                    </a:ext>
                  </a:extLst>
                </a:gridCol>
                <a:gridCol w="2533324">
                  <a:extLst>
                    <a:ext uri="{9D8B030D-6E8A-4147-A177-3AD203B41FA5}">
                      <a16:colId xmlns:a16="http://schemas.microsoft.com/office/drawing/2014/main" val="20001"/>
                    </a:ext>
                  </a:extLst>
                </a:gridCol>
                <a:gridCol w="4222206">
                  <a:extLst>
                    <a:ext uri="{9D8B030D-6E8A-4147-A177-3AD203B41FA5}">
                      <a16:colId xmlns:a16="http://schemas.microsoft.com/office/drawing/2014/main" val="20002"/>
                    </a:ext>
                  </a:extLst>
                </a:gridCol>
              </a:tblGrid>
              <a:tr h="410936">
                <a:tc>
                  <a:txBody>
                    <a:bodyPr/>
                    <a:lstStyle/>
                    <a:p>
                      <a:pPr marL="0" indent="0">
                        <a:lnSpc>
                          <a:spcPts val="2100"/>
                        </a:lnSpc>
                        <a:buNone/>
                      </a:pPr>
                      <a:r>
                        <a:rPr lang="es-MX" sz="1500" b="1" noProof="0" dirty="0">
                          <a:solidFill>
                            <a:srgbClr val="14212B"/>
                          </a:solidFill>
                          <a:latin typeface="Arial" pitchFamily="34" charset="0"/>
                          <a:ea typeface="Arial" pitchFamily="34" charset="-122"/>
                          <a:cs typeface="Arial" pitchFamily="34" charset="-120"/>
                        </a:rPr>
                        <a:t>Método</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AEB2B4"/>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AEB2B4"/>
                      </a:solidFill>
                      <a:prstDash val="solid"/>
                      <a:round/>
                      <a:headEnd type="none" w="med" len="med"/>
                      <a:tailEnd type="none" w="med" len="med"/>
                    </a:lnB>
                    <a:solidFill>
                      <a:srgbClr val="D9DEE2"/>
                    </a:solidFill>
                  </a:tcPr>
                </a:tc>
                <a:tc>
                  <a:txBody>
                    <a:bodyPr/>
                    <a:lstStyle/>
                    <a:p>
                      <a:pPr marL="0" indent="0" algn="ctr">
                        <a:lnSpc>
                          <a:spcPts val="2100"/>
                        </a:lnSpc>
                        <a:buNone/>
                      </a:pPr>
                      <a:r>
                        <a:rPr lang="es-MX" sz="1500" b="1" noProof="0" dirty="0">
                          <a:solidFill>
                            <a:srgbClr val="14212B"/>
                          </a:solidFill>
                          <a:latin typeface="Arial" pitchFamily="34" charset="0"/>
                          <a:ea typeface="Arial" pitchFamily="34" charset="-122"/>
                          <a:cs typeface="Arial" pitchFamily="34" charset="-120"/>
                        </a:rPr>
                        <a:t>Pendientes por paso</a:t>
                      </a:r>
                      <a:endParaRPr lang="es-MX" sz="1500" noProof="0" dirty="0">
                        <a:latin typeface="Arial" charset="0"/>
                        <a:ea typeface="Arial" charset="0"/>
                        <a:cs typeface="Arial" charset="0"/>
                      </a:endParaRPr>
                    </a:p>
                  </a:txBody>
                  <a:tcPr marL="66675" marR="66675" marT="66675" marB="66675">
                    <a:lnL w="12700" cap="flat" cmpd="sng" algn="ctr">
                      <a:solidFill>
                        <a:srgbClr val="AEB2B4"/>
                      </a:solidFill>
                      <a:prstDash val="solid"/>
                      <a:round/>
                      <a:headEnd type="none" w="med" len="med"/>
                      <a:tailEnd type="none" w="med" len="med"/>
                    </a:lnL>
                    <a:lnR w="12700" cap="flat" cmpd="sng" algn="ctr">
                      <a:solidFill>
                        <a:srgbClr val="AEB2B4"/>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AEB2B4"/>
                      </a:solidFill>
                      <a:prstDash val="solid"/>
                      <a:round/>
                      <a:headEnd type="none" w="med" len="med"/>
                      <a:tailEnd type="none" w="med" len="med"/>
                    </a:lnB>
                    <a:solidFill>
                      <a:srgbClr val="D9DEE2"/>
                    </a:solidFill>
                  </a:tcPr>
                </a:tc>
                <a:tc>
                  <a:txBody>
                    <a:bodyPr/>
                    <a:lstStyle/>
                    <a:p>
                      <a:pPr marL="0" indent="0">
                        <a:lnSpc>
                          <a:spcPts val="2100"/>
                        </a:lnSpc>
                        <a:buNone/>
                      </a:pPr>
                      <a:r>
                        <a:rPr lang="es-MX" sz="1500" b="1" noProof="0" dirty="0">
                          <a:solidFill>
                            <a:srgbClr val="14212B"/>
                          </a:solidFill>
                          <a:latin typeface="Arial" pitchFamily="34" charset="0"/>
                          <a:ea typeface="Arial" pitchFamily="34" charset="-122"/>
                          <a:cs typeface="Arial" pitchFamily="34" charset="-120"/>
                        </a:rPr>
                        <a:t>Dónde se evalúan</a:t>
                      </a:r>
                      <a:endParaRPr lang="es-MX" sz="1500" noProof="0" dirty="0">
                        <a:latin typeface="Arial" charset="0"/>
                        <a:ea typeface="Arial" charset="0"/>
                        <a:cs typeface="Arial" charset="0"/>
                      </a:endParaRPr>
                    </a:p>
                  </a:txBody>
                  <a:tcPr marL="66675" marR="66675" marT="66675" marB="66675">
                    <a:lnL w="12700" cap="flat" cmpd="sng" algn="ctr">
                      <a:solidFill>
                        <a:srgbClr val="AEB2B4"/>
                      </a:solidFill>
                      <a:prstDash val="solid"/>
                      <a:round/>
                      <a:headEnd type="none" w="med" len="med"/>
                      <a:tailEnd type="none" w="med" len="med"/>
                    </a:lnL>
                    <a:lnR w="12700" cap="flat" cmpd="sng" algn="ctr">
                      <a:solidFill>
                        <a:srgbClr val="AEB2B4"/>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AEB2B4"/>
                      </a:solidFill>
                      <a:prstDash val="solid"/>
                      <a:round/>
                      <a:headEnd type="none" w="med" len="med"/>
                      <a:tailEnd type="none" w="med" len="med"/>
                    </a:lnB>
                    <a:solidFill>
                      <a:srgbClr val="D9DEE2"/>
                    </a:solidFill>
                  </a:tcPr>
                </a:tc>
                <a:extLst>
                  <a:ext uri="{0D108BD9-81ED-4DB2-BD59-A6C34878D82A}">
                    <a16:rowId xmlns:a16="http://schemas.microsoft.com/office/drawing/2014/main" val="10000"/>
                  </a:ext>
                </a:extLst>
              </a:tr>
              <a:tr h="410936">
                <a:tc>
                  <a:txBody>
                    <a:bodyPr/>
                    <a:lstStyle/>
                    <a:p>
                      <a:pPr marL="0" indent="0">
                        <a:lnSpc>
                          <a:spcPts val="2100"/>
                        </a:lnSpc>
                        <a:buNone/>
                      </a:pPr>
                      <a:r>
                        <a:rPr lang="es-MX" sz="1500" noProof="0" dirty="0">
                          <a:solidFill>
                            <a:srgbClr val="14212B"/>
                          </a:solidFill>
                          <a:latin typeface="Arial" pitchFamily="34" charset="0"/>
                          <a:ea typeface="Arial" pitchFamily="34" charset="-122"/>
                          <a:cs typeface="Arial" pitchFamily="34" charset="-120"/>
                        </a:rPr>
                        <a:t>Euler (1er orden)</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AEB2B4"/>
                      </a:solidFill>
                      <a:prstDash val="solid"/>
                      <a:round/>
                      <a:headEnd type="none" w="med" len="med"/>
                      <a:tailEnd type="none" w="med" len="med"/>
                    </a:lnT>
                    <a:lnB w="12700" cap="flat" cmpd="sng" algn="ctr">
                      <a:solidFill>
                        <a:srgbClr val="BBC0C3"/>
                      </a:solidFill>
                      <a:prstDash val="solid"/>
                      <a:round/>
                      <a:headEnd type="none" w="med" len="med"/>
                      <a:tailEnd type="none" w="med" len="med"/>
                    </a:lnB>
                  </a:tcPr>
                </a:tc>
                <a:tc>
                  <a:txBody>
                    <a:bodyPr/>
                    <a:lstStyle/>
                    <a:p>
                      <a:pPr marL="0" indent="0" algn="ctr">
                        <a:lnSpc>
                          <a:spcPts val="2100"/>
                        </a:lnSpc>
                        <a:buNone/>
                      </a:pPr>
                      <a:r>
                        <a:rPr lang="es-MX" sz="1500" noProof="0" dirty="0">
                          <a:solidFill>
                            <a:srgbClr val="14212B"/>
                          </a:solidFill>
                          <a:latin typeface="Arial" pitchFamily="34" charset="0"/>
                          <a:ea typeface="Arial" pitchFamily="34" charset="-122"/>
                          <a:cs typeface="Arial" pitchFamily="34" charset="-120"/>
                        </a:rPr>
                        <a:t>1</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AEB2B4"/>
                      </a:solidFill>
                      <a:prstDash val="solid"/>
                      <a:round/>
                      <a:headEnd type="none" w="med" len="med"/>
                      <a:tailEnd type="none" w="med" len="med"/>
                    </a:lnT>
                    <a:lnB w="12700" cap="flat" cmpd="sng" algn="ctr">
                      <a:solidFill>
                        <a:srgbClr val="BBC0C3"/>
                      </a:solidFill>
                      <a:prstDash val="solid"/>
                      <a:round/>
                      <a:headEnd type="none" w="med" len="med"/>
                      <a:tailEnd type="none" w="med" len="med"/>
                    </a:lnB>
                  </a:tcPr>
                </a:tc>
                <a:tc>
                  <a:txBody>
                    <a:bodyPr/>
                    <a:lstStyle/>
                    <a:p>
                      <a:pPr marL="0" indent="0">
                        <a:lnSpc>
                          <a:spcPts val="2100"/>
                        </a:lnSpc>
                        <a:buNone/>
                      </a:pPr>
                      <a:r>
                        <a:rPr lang="es-MX" sz="1500" noProof="0" dirty="0">
                          <a:solidFill>
                            <a:srgbClr val="14212B"/>
                          </a:solidFill>
                          <a:latin typeface="Arial" pitchFamily="34" charset="0"/>
                          <a:ea typeface="Arial" pitchFamily="34" charset="-122"/>
                          <a:cs typeface="Arial" pitchFamily="34" charset="-120"/>
                        </a:rPr>
                        <a:t>al inicio</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AEB2B4"/>
                      </a:solidFill>
                      <a:prstDash val="solid"/>
                      <a:round/>
                      <a:headEnd type="none" w="med" len="med"/>
                      <a:tailEnd type="none" w="med" len="med"/>
                    </a:lnT>
                    <a:lnB w="12700" cap="flat" cmpd="sng" algn="ctr">
                      <a:solidFill>
                        <a:srgbClr val="BBC0C3"/>
                      </a:solidFill>
                      <a:prstDash val="solid"/>
                      <a:round/>
                      <a:headEnd type="none" w="med" len="med"/>
                      <a:tailEnd type="none" w="med" len="med"/>
                    </a:lnB>
                  </a:tcPr>
                </a:tc>
                <a:extLst>
                  <a:ext uri="{0D108BD9-81ED-4DB2-BD59-A6C34878D82A}">
                    <a16:rowId xmlns:a16="http://schemas.microsoft.com/office/drawing/2014/main" val="10001"/>
                  </a:ext>
                </a:extLst>
              </a:tr>
              <a:tr h="410936">
                <a:tc>
                  <a:txBody>
                    <a:bodyPr/>
                    <a:lstStyle/>
                    <a:p>
                      <a:pPr marL="0" indent="0">
                        <a:lnSpc>
                          <a:spcPts val="2100"/>
                        </a:lnSpc>
                        <a:buNone/>
                      </a:pPr>
                      <a:r>
                        <a:rPr lang="es-MX" sz="1500" noProof="0" dirty="0">
                          <a:solidFill>
                            <a:srgbClr val="14212B"/>
                          </a:solidFill>
                          <a:latin typeface="Arial" pitchFamily="34" charset="0"/>
                          <a:ea typeface="Arial" pitchFamily="34" charset="-122"/>
                          <a:cs typeface="Arial" pitchFamily="34" charset="-120"/>
                        </a:rPr>
                        <a:t>Euler “mejorado” (2do orden)</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BBC0C3"/>
                      </a:solidFill>
                      <a:prstDash val="solid"/>
                      <a:round/>
                      <a:headEnd type="none" w="med" len="med"/>
                      <a:tailEnd type="none" w="med" len="med"/>
                    </a:lnB>
                  </a:tcPr>
                </a:tc>
                <a:tc>
                  <a:txBody>
                    <a:bodyPr/>
                    <a:lstStyle/>
                    <a:p>
                      <a:pPr marL="0" indent="0" algn="ctr">
                        <a:lnSpc>
                          <a:spcPts val="2100"/>
                        </a:lnSpc>
                        <a:buNone/>
                      </a:pPr>
                      <a:r>
                        <a:rPr lang="es-MX" sz="1500" noProof="0" dirty="0">
                          <a:solidFill>
                            <a:srgbClr val="14212B"/>
                          </a:solidFill>
                          <a:latin typeface="Arial" pitchFamily="34" charset="0"/>
                          <a:ea typeface="Arial" pitchFamily="34" charset="-122"/>
                          <a:cs typeface="Arial" pitchFamily="34" charset="-120"/>
                        </a:rPr>
                        <a:t>2</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BBC0C3"/>
                      </a:solidFill>
                      <a:prstDash val="solid"/>
                      <a:round/>
                      <a:headEnd type="none" w="med" len="med"/>
                      <a:tailEnd type="none" w="med" len="med"/>
                    </a:lnB>
                  </a:tcPr>
                </a:tc>
                <a:tc>
                  <a:txBody>
                    <a:bodyPr/>
                    <a:lstStyle/>
                    <a:p>
                      <a:pPr marL="0" indent="0">
                        <a:lnSpc>
                          <a:spcPts val="2100"/>
                        </a:lnSpc>
                        <a:buNone/>
                      </a:pPr>
                      <a:r>
                        <a:rPr lang="es-MX" sz="1500" noProof="0" dirty="0">
                          <a:solidFill>
                            <a:srgbClr val="14212B"/>
                          </a:solidFill>
                          <a:latin typeface="Arial" pitchFamily="34" charset="0"/>
                          <a:ea typeface="Arial" pitchFamily="34" charset="-122"/>
                          <a:cs typeface="Arial" pitchFamily="34" charset="-120"/>
                        </a:rPr>
                        <a:t>al inicio y al final</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BBC0C3"/>
                      </a:solidFill>
                      <a:prstDash val="solid"/>
                      <a:round/>
                      <a:headEnd type="none" w="med" len="med"/>
                      <a:tailEnd type="none" w="med" len="med"/>
                    </a:lnB>
                  </a:tcPr>
                </a:tc>
                <a:extLst>
                  <a:ext uri="{0D108BD9-81ED-4DB2-BD59-A6C34878D82A}">
                    <a16:rowId xmlns:a16="http://schemas.microsoft.com/office/drawing/2014/main" val="10002"/>
                  </a:ext>
                </a:extLst>
              </a:tr>
              <a:tr h="410936">
                <a:tc>
                  <a:txBody>
                    <a:bodyPr/>
                    <a:lstStyle/>
                    <a:p>
                      <a:pPr marL="0" indent="0">
                        <a:lnSpc>
                          <a:spcPts val="2100"/>
                        </a:lnSpc>
                        <a:buNone/>
                      </a:pPr>
                      <a:r>
                        <a:rPr lang="es-MX" sz="1500" noProof="0" dirty="0">
                          <a:solidFill>
                            <a:srgbClr val="14212B"/>
                          </a:solidFill>
                          <a:latin typeface="Arial" pitchFamily="34" charset="0"/>
                          <a:ea typeface="Arial" pitchFamily="34" charset="-122"/>
                          <a:cs typeface="Arial" pitchFamily="34" charset="-120"/>
                        </a:rPr>
                        <a:t>Runge </a:t>
                      </a:r>
                      <a:r>
                        <a:rPr lang="es-MX" sz="1500" noProof="0" dirty="0" err="1">
                          <a:solidFill>
                            <a:srgbClr val="14212B"/>
                          </a:solidFill>
                          <a:latin typeface="Arial" pitchFamily="34" charset="0"/>
                          <a:ea typeface="Arial" pitchFamily="34" charset="-122"/>
                          <a:cs typeface="Arial" pitchFamily="34" charset="-120"/>
                        </a:rPr>
                        <a:t>Kutta</a:t>
                      </a:r>
                      <a:r>
                        <a:rPr lang="es-MX" sz="1500" noProof="0" dirty="0">
                          <a:solidFill>
                            <a:srgbClr val="14212B"/>
                          </a:solidFill>
                          <a:latin typeface="Arial" pitchFamily="34" charset="0"/>
                          <a:ea typeface="Arial" pitchFamily="34" charset="-122"/>
                          <a:cs typeface="Arial" pitchFamily="34" charset="-120"/>
                        </a:rPr>
                        <a:t> </a:t>
                      </a:r>
                      <a:endParaRPr lang="es-MX" sz="1500" noProof="0" dirty="0">
                        <a:latin typeface="Arial" charset="0"/>
                        <a:ea typeface="Arial" charset="0"/>
                        <a:cs typeface="Arial" charset="0"/>
                      </a:endParaRPr>
                    </a:p>
                  </a:txBody>
                  <a:tcPr marL="66675" marR="66675" marT="66675" marB="66675">
                    <a:lnL w="12700" cap="flat" cmpd="sng" algn="ctr">
                      <a:solidFill>
                        <a:srgbClr val="BBC0C3"/>
                      </a:solidFill>
                      <a:prstDash val="solid"/>
                      <a:round/>
                      <a:headEnd type="none" w="med" len="med"/>
                      <a:tailEnd type="none" w="med" len="med"/>
                    </a:lnL>
                    <a:lnR w="12700" cap="flat" cmpd="sng" algn="ctr">
                      <a:solidFill>
                        <a:srgbClr val="ABB9C3"/>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ABB9C3"/>
                      </a:solidFill>
                      <a:prstDash val="solid"/>
                      <a:round/>
                      <a:headEnd type="none" w="med" len="med"/>
                      <a:tailEnd type="none" w="med" len="med"/>
                    </a:lnB>
                    <a:solidFill>
                      <a:srgbClr val="D6E8F5"/>
                    </a:solidFill>
                  </a:tcPr>
                </a:tc>
                <a:tc>
                  <a:txBody>
                    <a:bodyPr/>
                    <a:lstStyle/>
                    <a:p>
                      <a:pPr marL="0" indent="0" algn="ctr">
                        <a:lnSpc>
                          <a:spcPts val="2100"/>
                        </a:lnSpc>
                        <a:buNone/>
                      </a:pPr>
                      <a:r>
                        <a:rPr lang="es-MX" sz="1500" noProof="0" dirty="0">
                          <a:solidFill>
                            <a:srgbClr val="14212B"/>
                          </a:solidFill>
                          <a:latin typeface="Arial" pitchFamily="34" charset="0"/>
                          <a:ea typeface="Arial" pitchFamily="34" charset="-122"/>
                          <a:cs typeface="Arial" pitchFamily="34" charset="-120"/>
                        </a:rPr>
                        <a:t>4</a:t>
                      </a:r>
                      <a:endParaRPr lang="es-MX" sz="1500" noProof="0" dirty="0">
                        <a:latin typeface="Arial" charset="0"/>
                        <a:ea typeface="Arial" charset="0"/>
                        <a:cs typeface="Arial" charset="0"/>
                      </a:endParaRPr>
                    </a:p>
                  </a:txBody>
                  <a:tcPr marL="66675" marR="66675" marT="66675" marB="66675">
                    <a:lnL w="12700" cap="flat" cmpd="sng" algn="ctr">
                      <a:solidFill>
                        <a:srgbClr val="ABB9C3"/>
                      </a:solidFill>
                      <a:prstDash val="solid"/>
                      <a:round/>
                      <a:headEnd type="none" w="med" len="med"/>
                      <a:tailEnd type="none" w="med" len="med"/>
                    </a:lnL>
                    <a:lnR w="12700" cap="flat" cmpd="sng" algn="ctr">
                      <a:solidFill>
                        <a:srgbClr val="ABB9C3"/>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ABB9C3"/>
                      </a:solidFill>
                      <a:prstDash val="solid"/>
                      <a:round/>
                      <a:headEnd type="none" w="med" len="med"/>
                      <a:tailEnd type="none" w="med" len="med"/>
                    </a:lnB>
                    <a:solidFill>
                      <a:srgbClr val="D6E8F5"/>
                    </a:solidFill>
                  </a:tcPr>
                </a:tc>
                <a:tc>
                  <a:txBody>
                    <a:bodyPr/>
                    <a:lstStyle/>
                    <a:p>
                      <a:pPr marL="0" indent="0">
                        <a:lnSpc>
                          <a:spcPts val="2100"/>
                        </a:lnSpc>
                        <a:buNone/>
                      </a:pPr>
                      <a:r>
                        <a:rPr lang="es-MX" sz="1500" noProof="0" dirty="0">
                          <a:solidFill>
                            <a:srgbClr val="14212B"/>
                          </a:solidFill>
                          <a:latin typeface="Arial" pitchFamily="34" charset="0"/>
                          <a:ea typeface="Arial" pitchFamily="34" charset="-122"/>
                          <a:cs typeface="Arial" pitchFamily="34" charset="-120"/>
                        </a:rPr>
                        <a:t>inicio, mitad (dos veces) y final</a:t>
                      </a:r>
                      <a:endParaRPr lang="es-MX" sz="1500" noProof="0" dirty="0">
                        <a:latin typeface="Arial" charset="0"/>
                        <a:ea typeface="Arial" charset="0"/>
                        <a:cs typeface="Arial" charset="0"/>
                      </a:endParaRPr>
                    </a:p>
                  </a:txBody>
                  <a:tcPr marL="66675" marR="66675" marT="66675" marB="66675">
                    <a:lnL w="12700" cap="flat" cmpd="sng" algn="ctr">
                      <a:solidFill>
                        <a:srgbClr val="ABB9C3"/>
                      </a:solidFill>
                      <a:prstDash val="solid"/>
                      <a:round/>
                      <a:headEnd type="none" w="med" len="med"/>
                      <a:tailEnd type="none" w="med" len="med"/>
                    </a:lnL>
                    <a:lnR w="12700" cap="flat" cmpd="sng" algn="ctr">
                      <a:solidFill>
                        <a:srgbClr val="ABB9C3"/>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ABB9C3"/>
                      </a:solidFill>
                      <a:prstDash val="solid"/>
                      <a:round/>
                      <a:headEnd type="none" w="med" len="med"/>
                      <a:tailEnd type="none" w="med" len="med"/>
                    </a:lnB>
                    <a:solidFill>
                      <a:srgbClr val="D6E8F5"/>
                    </a:solidFill>
                  </a:tcPr>
                </a:tc>
                <a:extLst>
                  <a:ext uri="{0D108BD9-81ED-4DB2-BD59-A6C34878D82A}">
                    <a16:rowId xmlns:a16="http://schemas.microsoft.com/office/drawing/2014/main" val="10003"/>
                  </a:ext>
                </a:extLst>
              </a:tr>
            </a:tbl>
          </a:graphicData>
        </a:graphic>
      </p:graphicFrame>
      <p:sp>
        <p:nvSpPr>
          <p:cNvPr id="6" name="Text 3"/>
          <p:cNvSpPr/>
          <p:nvPr/>
        </p:nvSpPr>
        <p:spPr>
          <a:xfrm>
            <a:off x="812800" y="4846975"/>
            <a:ext cx="9810751" cy="973140"/>
          </a:xfrm>
          <a:prstGeom prst="rect">
            <a:avLst/>
          </a:prstGeom>
          <a:noFill/>
          <a:ln/>
        </p:spPr>
        <p:txBody>
          <a:bodyPr wrap="square" lIns="0" tIns="0" rIns="0" bIns="0" rtlCol="0" anchor="t">
            <a:normAutofit/>
          </a:bodyPr>
          <a:lstStyle/>
          <a:p>
            <a:pPr marL="0" indent="0" algn="l">
              <a:lnSpc>
                <a:spcPts val="2175"/>
              </a:lnSpc>
              <a:buNone/>
            </a:pPr>
            <a:r>
              <a:rPr lang="es-MX" sz="1500" noProof="0" dirty="0">
                <a:solidFill>
                  <a:srgbClr val="4A5866"/>
                </a:solidFill>
                <a:latin typeface="Arial" pitchFamily="34" charset="0"/>
                <a:ea typeface="Arial" pitchFamily="34" charset="-122"/>
                <a:cs typeface="Arial" pitchFamily="34" charset="-120"/>
              </a:rPr>
              <a:t>Dentro de el, cada kᵢ se evalúa después de un mini paso de Euler</a:t>
            </a:r>
          </a:p>
          <a:p>
            <a:pPr marL="0" indent="0" algn="l">
              <a:lnSpc>
                <a:spcPts val="2175"/>
              </a:lnSpc>
              <a:buNone/>
            </a:pPr>
            <a:r>
              <a:rPr lang="es-MX" sz="1500" noProof="0" dirty="0">
                <a:solidFill>
                  <a:srgbClr val="4A5866"/>
                </a:solidFill>
                <a:latin typeface="Arial" pitchFamily="34" charset="0"/>
                <a:ea typeface="Arial" pitchFamily="34" charset="-122"/>
                <a:cs typeface="Arial" pitchFamily="34" charset="-120"/>
              </a:rPr>
              <a:t>yₙ + (h/2)·k₁ es medio paso de Euler. </a:t>
            </a:r>
          </a:p>
          <a:p>
            <a:pPr marL="0" indent="0" algn="l">
              <a:lnSpc>
                <a:spcPts val="2175"/>
              </a:lnSpc>
              <a:buNone/>
            </a:pPr>
            <a:r>
              <a:rPr lang="es-MX" sz="1500" noProof="0" dirty="0">
                <a:solidFill>
                  <a:srgbClr val="4A5866"/>
                </a:solidFill>
                <a:latin typeface="Arial" pitchFamily="34" charset="0"/>
                <a:ea typeface="Arial" pitchFamily="34" charset="-122"/>
                <a:cs typeface="Arial" pitchFamily="34" charset="-120"/>
              </a:rPr>
              <a:t>Por eso a Runge </a:t>
            </a:r>
            <a:r>
              <a:rPr lang="es-MX" sz="1500" noProof="0" dirty="0" err="1">
                <a:solidFill>
                  <a:srgbClr val="4A5866"/>
                </a:solidFill>
                <a:latin typeface="Arial" pitchFamily="34" charset="0"/>
                <a:ea typeface="Arial" pitchFamily="34" charset="-122"/>
                <a:cs typeface="Arial" pitchFamily="34" charset="-120"/>
              </a:rPr>
              <a:t>Kutta</a:t>
            </a:r>
            <a:r>
              <a:rPr lang="es-MX" sz="1500" noProof="0" dirty="0">
                <a:solidFill>
                  <a:srgbClr val="4A5866"/>
                </a:solidFill>
                <a:latin typeface="Arial" pitchFamily="34" charset="0"/>
                <a:ea typeface="Arial" pitchFamily="34" charset="-122"/>
                <a:cs typeface="Arial" pitchFamily="34" charset="-120"/>
              </a:rPr>
              <a:t> se le llama “Euler mejorado”.</a:t>
            </a:r>
            <a:endParaRPr lang="es-MX" sz="1500" noProof="0" dirty="0"/>
          </a:p>
        </p:txBody>
      </p:sp>
      <p:sp>
        <p:nvSpPr>
          <p:cNvPr id="7" name="Text 4"/>
          <p:cNvSpPr/>
          <p:nvPr/>
        </p:nvSpPr>
        <p:spPr>
          <a:xfrm>
            <a:off x="812800" y="6238252"/>
            <a:ext cx="39243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7</a:t>
            </a:r>
            <a:endParaRPr lang="es-MX" sz="12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4212B"/>
        </a:solidFill>
        <a:effectLst/>
      </p:bgPr>
    </p:bg>
    <p:spTree>
      <p:nvGrpSpPr>
        <p:cNvPr id="1" name=""/>
        <p:cNvGrpSpPr/>
        <p:nvPr/>
      </p:nvGrpSpPr>
      <p:grpSpPr>
        <a:xfrm>
          <a:off x="0" y="0"/>
          <a:ext cx="0" cy="0"/>
          <a:chOff x="0" y="0"/>
          <a:chExt cx="0" cy="0"/>
        </a:xfrm>
      </p:grpSpPr>
      <p:sp>
        <p:nvSpPr>
          <p:cNvPr id="2" name="Text 0"/>
          <p:cNvSpPr/>
          <p:nvPr/>
        </p:nvSpPr>
        <p:spPr>
          <a:xfrm>
            <a:off x="812800" y="1800287"/>
            <a:ext cx="10883393" cy="238749"/>
          </a:xfrm>
          <a:prstGeom prst="rect">
            <a:avLst/>
          </a:prstGeom>
          <a:noFill/>
          <a:ln/>
        </p:spPr>
        <p:txBody>
          <a:bodyPr wrap="square" lIns="0" tIns="0" rIns="0" bIns="0" rtlCol="0" anchor="t">
            <a:normAutofit/>
          </a:bodyPr>
          <a:lstStyle/>
          <a:p>
            <a:pPr marL="0" indent="0" algn="l">
              <a:lnSpc>
                <a:spcPts val="1680"/>
              </a:lnSpc>
              <a:buNone/>
            </a:pPr>
            <a:endParaRPr lang="es-MX" sz="1200" noProof="0" dirty="0"/>
          </a:p>
        </p:txBody>
      </p:sp>
      <p:sp>
        <p:nvSpPr>
          <p:cNvPr id="3" name="Text 1"/>
          <p:cNvSpPr>
            <a:spLocks noGrp="1"/>
          </p:cNvSpPr>
          <p:nvPr>
            <p:ph type="title"/>
          </p:nvPr>
        </p:nvSpPr>
        <p:spPr>
          <a:xfrm>
            <a:off x="920865" y="1607865"/>
            <a:ext cx="9810751" cy="2669265"/>
          </a:xfrm>
          <a:prstGeom prst="rect">
            <a:avLst/>
          </a:prstGeom>
          <a:noFill/>
          <a:ln/>
        </p:spPr>
        <p:txBody>
          <a:bodyPr wrap="square" lIns="0" tIns="0" rIns="0" bIns="0" rtlCol="0" anchor="t">
            <a:normAutofit/>
          </a:bodyPr>
          <a:lstStyle/>
          <a:p>
            <a:pPr marL="0" indent="0" algn="l">
              <a:lnSpc>
                <a:spcPts val="4140"/>
              </a:lnSpc>
              <a:buNone/>
            </a:pPr>
            <a:r>
              <a:rPr lang="es-MX" sz="4000" b="1" i="0" noProof="0" dirty="0">
                <a:solidFill>
                  <a:srgbClr val="F2F5F7"/>
                </a:solidFill>
                <a:latin typeface="Georgia" pitchFamily="18" charset="0"/>
                <a:ea typeface="Georgia" pitchFamily="18" charset="-122"/>
                <a:cs typeface="Georgia" pitchFamily="18" charset="-120"/>
              </a:rPr>
              <a:t>Gracias por ver :)</a:t>
            </a:r>
            <a:br>
              <a:rPr lang="es-MX" sz="4000" b="1" i="0" noProof="0" dirty="0">
                <a:solidFill>
                  <a:srgbClr val="F2F5F7"/>
                </a:solidFill>
                <a:latin typeface="Georgia" pitchFamily="18" charset="0"/>
                <a:ea typeface="Georgia" pitchFamily="18" charset="-122"/>
                <a:cs typeface="Georgia" pitchFamily="18" charset="-120"/>
              </a:rPr>
            </a:br>
            <a:br>
              <a:rPr lang="es-MX" sz="4000" b="1" i="0" noProof="0" dirty="0">
                <a:solidFill>
                  <a:srgbClr val="F2F5F7"/>
                </a:solidFill>
                <a:latin typeface="Georgia" pitchFamily="18" charset="0"/>
                <a:ea typeface="Georgia" pitchFamily="18" charset="-122"/>
                <a:cs typeface="Georgia" pitchFamily="18" charset="-120"/>
              </a:rPr>
            </a:br>
            <a:r>
              <a:rPr lang="es-MX" sz="4000" b="1" i="0" noProof="0" dirty="0">
                <a:solidFill>
                  <a:srgbClr val="F2F5F7"/>
                </a:solidFill>
                <a:latin typeface="Georgia" pitchFamily="18" charset="0"/>
                <a:ea typeface="Georgia" pitchFamily="18" charset="-122"/>
                <a:cs typeface="Georgia" pitchFamily="18" charset="-120"/>
              </a:rPr>
              <a:t>NO olvides aplicar los fundamentos de este método numérico</a:t>
            </a:r>
            <a:endParaRPr lang="es-MX" sz="4000" noProof="0" dirty="0"/>
          </a:p>
        </p:txBody>
      </p:sp>
      <p:sp>
        <p:nvSpPr>
          <p:cNvPr id="4" name="Text 2"/>
          <p:cNvSpPr/>
          <p:nvPr/>
        </p:nvSpPr>
        <p:spPr>
          <a:xfrm>
            <a:off x="812800" y="4302069"/>
            <a:ext cx="3418463" cy="577850"/>
          </a:xfrm>
          <a:prstGeom prst="rect">
            <a:avLst/>
          </a:prstGeom>
          <a:noFill/>
          <a:ln/>
        </p:spPr>
        <p:txBody>
          <a:bodyPr wrap="square" lIns="0" tIns="0" rIns="0" bIns="0" rtlCol="0" anchor="t">
            <a:normAutofit/>
          </a:bodyPr>
          <a:lstStyle/>
          <a:p>
            <a:pPr marL="0" indent="0" algn="l">
              <a:lnSpc>
                <a:spcPts val="2175"/>
              </a:lnSpc>
              <a:buNone/>
            </a:pPr>
            <a:r>
              <a:rPr lang="es-MX" sz="1500" b="1" noProof="0" dirty="0">
                <a:solidFill>
                  <a:srgbClr val="F2F5F7"/>
                </a:solidFill>
                <a:latin typeface="Arial" pitchFamily="34" charset="0"/>
                <a:ea typeface="Arial" pitchFamily="34" charset="-122"/>
                <a:cs typeface="Arial" pitchFamily="34" charset="-120"/>
              </a:rPr>
              <a:t>1.</a:t>
            </a:r>
            <a:r>
              <a:rPr lang="es-MX" sz="1500" noProof="0" dirty="0">
                <a:solidFill>
                  <a:srgbClr val="B8C7D3"/>
                </a:solidFill>
                <a:latin typeface="Arial" pitchFamily="34" charset="0"/>
                <a:ea typeface="Arial" pitchFamily="34" charset="-122"/>
                <a:cs typeface="Arial" pitchFamily="34" charset="-120"/>
              </a:rPr>
              <a:t> Despejar </a:t>
            </a:r>
            <a:r>
              <a:rPr lang="es-MX" sz="1500" noProof="0" dirty="0" err="1">
                <a:solidFill>
                  <a:srgbClr val="B8C7D3"/>
                </a:solidFill>
                <a:latin typeface="Arial" pitchFamily="34" charset="0"/>
                <a:ea typeface="Arial" pitchFamily="34" charset="-122"/>
                <a:cs typeface="Arial" pitchFamily="34" charset="-120"/>
              </a:rPr>
              <a:t>dy</a:t>
            </a:r>
            <a:r>
              <a:rPr lang="es-MX" sz="1500" noProof="0" dirty="0">
                <a:solidFill>
                  <a:srgbClr val="B8C7D3"/>
                </a:solidFill>
                <a:latin typeface="Arial" pitchFamily="34" charset="0"/>
                <a:ea typeface="Arial" pitchFamily="34" charset="-122"/>
                <a:cs typeface="Arial" pitchFamily="34" charset="-120"/>
              </a:rPr>
              <a:t>/</a:t>
            </a:r>
            <a:r>
              <a:rPr lang="es-MX" sz="1500" noProof="0" dirty="0" err="1">
                <a:solidFill>
                  <a:srgbClr val="B8C7D3"/>
                </a:solidFill>
                <a:latin typeface="Arial" pitchFamily="34" charset="0"/>
                <a:ea typeface="Arial" pitchFamily="34" charset="-122"/>
                <a:cs typeface="Arial" pitchFamily="34" charset="-120"/>
              </a:rPr>
              <a:t>dx</a:t>
            </a:r>
            <a:r>
              <a:rPr lang="es-MX" sz="1500" noProof="0" dirty="0">
                <a:solidFill>
                  <a:srgbClr val="B8C7D3"/>
                </a:solidFill>
                <a:latin typeface="Arial" pitchFamily="34" charset="0"/>
                <a:ea typeface="Arial" pitchFamily="34" charset="-122"/>
                <a:cs typeface="Arial" pitchFamily="34" charset="-120"/>
              </a:rPr>
              <a:t> = f(x, y) y fijar x₀, y₀, h.</a:t>
            </a:r>
            <a:endParaRPr lang="es-MX" sz="1500" noProof="0" dirty="0"/>
          </a:p>
        </p:txBody>
      </p:sp>
      <p:sp>
        <p:nvSpPr>
          <p:cNvPr id="5" name="Text 3"/>
          <p:cNvSpPr/>
          <p:nvPr/>
        </p:nvSpPr>
        <p:spPr>
          <a:xfrm>
            <a:off x="4436496" y="4302069"/>
            <a:ext cx="3418521" cy="577850"/>
          </a:xfrm>
          <a:prstGeom prst="rect">
            <a:avLst/>
          </a:prstGeom>
          <a:noFill/>
          <a:ln/>
        </p:spPr>
        <p:txBody>
          <a:bodyPr wrap="square" lIns="0" tIns="0" rIns="0" bIns="0" rtlCol="0" anchor="t">
            <a:normAutofit/>
          </a:bodyPr>
          <a:lstStyle/>
          <a:p>
            <a:pPr marL="0" indent="0" algn="l">
              <a:lnSpc>
                <a:spcPts val="2175"/>
              </a:lnSpc>
              <a:buNone/>
            </a:pPr>
            <a:r>
              <a:rPr lang="es-MX" sz="1500" b="1" noProof="0" dirty="0">
                <a:solidFill>
                  <a:srgbClr val="F2F5F7"/>
                </a:solidFill>
                <a:latin typeface="Arial" pitchFamily="34" charset="0"/>
                <a:ea typeface="Arial" pitchFamily="34" charset="-122"/>
                <a:cs typeface="Arial" pitchFamily="34" charset="-120"/>
              </a:rPr>
              <a:t>2.</a:t>
            </a:r>
            <a:r>
              <a:rPr lang="es-MX" sz="1500" noProof="0" dirty="0">
                <a:solidFill>
                  <a:srgbClr val="B8C7D3"/>
                </a:solidFill>
                <a:latin typeface="Arial" pitchFamily="34" charset="0"/>
                <a:ea typeface="Arial" pitchFamily="34" charset="-122"/>
                <a:cs typeface="Arial" pitchFamily="34" charset="-120"/>
              </a:rPr>
              <a:t> Calcular k₁, k₂, k₃, k₄ en el inicio, la mitad y el final.</a:t>
            </a:r>
            <a:endParaRPr lang="es-MX" sz="1500" noProof="0" dirty="0"/>
          </a:p>
        </p:txBody>
      </p:sp>
      <p:sp>
        <p:nvSpPr>
          <p:cNvPr id="6" name="Text 4"/>
          <p:cNvSpPr/>
          <p:nvPr/>
        </p:nvSpPr>
        <p:spPr>
          <a:xfrm>
            <a:off x="8060248" y="4302069"/>
            <a:ext cx="3418521" cy="577850"/>
          </a:xfrm>
          <a:prstGeom prst="rect">
            <a:avLst/>
          </a:prstGeom>
          <a:noFill/>
          <a:ln/>
        </p:spPr>
        <p:txBody>
          <a:bodyPr wrap="square" lIns="0" tIns="0" rIns="0" bIns="0" rtlCol="0" anchor="t">
            <a:normAutofit/>
          </a:bodyPr>
          <a:lstStyle/>
          <a:p>
            <a:pPr marL="0" indent="0" algn="l">
              <a:lnSpc>
                <a:spcPts val="2175"/>
              </a:lnSpc>
              <a:buNone/>
            </a:pPr>
            <a:r>
              <a:rPr lang="es-MX" sz="1500" b="1" noProof="0" dirty="0">
                <a:solidFill>
                  <a:srgbClr val="F2F5F7"/>
                </a:solidFill>
                <a:latin typeface="Arial" pitchFamily="34" charset="0"/>
                <a:ea typeface="Arial" pitchFamily="34" charset="-122"/>
                <a:cs typeface="Arial" pitchFamily="34" charset="-120"/>
              </a:rPr>
              <a:t>3.</a:t>
            </a:r>
            <a:r>
              <a:rPr lang="es-MX" sz="1500" noProof="0" dirty="0">
                <a:solidFill>
                  <a:srgbClr val="B8C7D3"/>
                </a:solidFill>
                <a:latin typeface="Arial" pitchFamily="34" charset="0"/>
                <a:ea typeface="Arial" pitchFamily="34" charset="-122"/>
                <a:cs typeface="Arial" pitchFamily="34" charset="-120"/>
              </a:rPr>
              <a:t> Avanzar con (h/6)(k₁ + 2k₂ + 2k₃ + k₄) y repetir.</a:t>
            </a:r>
            <a:endParaRPr lang="es-MX" sz="1500" noProof="0" dirty="0"/>
          </a:p>
        </p:txBody>
      </p:sp>
      <p:sp>
        <p:nvSpPr>
          <p:cNvPr id="7" name="Text 5"/>
          <p:cNvSpPr/>
          <p:nvPr/>
        </p:nvSpPr>
        <p:spPr>
          <a:xfrm>
            <a:off x="812800" y="6238255"/>
            <a:ext cx="3924300" cy="238749"/>
          </a:xfrm>
          <a:prstGeom prst="rect">
            <a:avLst/>
          </a:prstGeom>
          <a:noFill/>
          <a:ln/>
        </p:spPr>
        <p:txBody>
          <a:bodyPr wrap="square" lIns="0" tIns="0" rIns="0" bIns="0" rtlCol="0" anchor="t">
            <a:normAutofit/>
          </a:bodyPr>
          <a:lstStyle/>
          <a:p>
            <a:pPr marL="0" indent="0" algn="l">
              <a:lnSpc>
                <a:spcPts val="1680"/>
              </a:lnSpc>
              <a:buNone/>
            </a:pPr>
            <a:r>
              <a:rPr lang="es-MX" sz="1200" noProof="0" dirty="0">
                <a:solidFill>
                  <a:srgbClr val="6B7A88"/>
                </a:solidFill>
                <a:latin typeface="Arial" pitchFamily="34" charset="0"/>
                <a:ea typeface="Arial" pitchFamily="34" charset="-122"/>
                <a:cs typeface="Arial" pitchFamily="34" charset="-120"/>
              </a:rPr>
              <a:t>11</a:t>
            </a:r>
            <a:endParaRPr lang="es-MX" sz="1200" noProof="0" dirty="0"/>
          </a:p>
        </p:txBody>
      </p:sp>
    </p:spTree>
  </p:cSld>
  <p:clrMapOvr>
    <a:masterClrMapping/>
  </p:clrMapOvr>
</p:sld>
</file>

<file path=ppt/theme/theme1.xml><?xml version="1.0" encoding="utf-8"?>
<a:theme xmlns:a="http://schemas.openxmlformats.org/drawingml/2006/main" name="Método de Runge-Kutta">
  <a:themeElements>
    <a:clrScheme name="Método de Runge-Kutta">
      <a:dk1>
        <a:srgbClr val="14212B"/>
      </a:dk1>
      <a:lt1>
        <a:srgbClr val="F5F7F9"/>
      </a:lt1>
      <a:dk2>
        <a:srgbClr val="4C575F"/>
      </a:dk2>
      <a:lt2>
        <a:srgbClr val="DFE2E4"/>
      </a:lt2>
      <a:accent1>
        <a:srgbClr val="1D6FA5"/>
      </a:accent1>
      <a:accent2>
        <a:srgbClr val="6CB4E8"/>
      </a:accent2>
      <a:accent3>
        <a:srgbClr val="B5561A"/>
      </a:accent3>
      <a:accent4>
        <a:srgbClr val="4A5866"/>
      </a:accent4>
      <a:accent5>
        <a:srgbClr val="6B7A88"/>
      </a:accent5>
      <a:accent6>
        <a:srgbClr val="B8C7D3"/>
      </a:accent6>
      <a:hlink>
        <a:srgbClr val="0563C1"/>
      </a:hlink>
      <a:folHlink>
        <a:srgbClr val="954F72"/>
      </a:folHlink>
    </a:clrScheme>
    <a:fontScheme name="Método de Runge-Kutt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1115</Words>
  <Application>Microsoft Office PowerPoint</Application>
  <PresentationFormat>Panorámica</PresentationFormat>
  <Paragraphs>100</Paragraphs>
  <Slides>8</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Courier New</vt:lpstr>
      <vt:lpstr>Georgia</vt:lpstr>
      <vt:lpstr>Método de Runge-Kutta</vt:lpstr>
      <vt:lpstr>Método de Runge-Kutta</vt:lpstr>
      <vt:lpstr>Un método numérico aproxima la solución con aritmética</vt:lpstr>
      <vt:lpstr>Conocemos la pendiente, no la función</vt:lpstr>
      <vt:lpstr>Punto de partida: el método de Euler</vt:lpstr>
      <vt:lpstr>En lugar de una sola pendiente, avanza con un promedio de varias pendientes</vt:lpstr>
      <vt:lpstr>Cuatro pendientes por paso</vt:lpstr>
      <vt:lpstr>Euler es un Runge Kutta más simple</vt:lpstr>
      <vt:lpstr>Gracias por ver :)  NO olvides aplicar los fundamentos de este método numérico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Método de Runge-Kutta</dc:title>
  <dc:subject/>
  <dc:creator/>
  <cp:lastModifiedBy>ISRAEL AZUCENA MENDOZA</cp:lastModifiedBy>
  <cp:revision>2</cp:revision>
  <dcterms:created xsi:type="dcterms:W3CDTF">2026-10-24T04:13:06Z</dcterms:created>
  <dcterms:modified xsi:type="dcterms:W3CDTF">2026-10-24T04:54:04Z</dcterms:modified>
</cp:coreProperties>
</file>